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1"/>
  </p:sldMasterIdLst>
  <p:notesMasterIdLst>
    <p:notesMasterId r:id="rId18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6" r:id="rId9"/>
    <p:sldId id="279" r:id="rId10"/>
    <p:sldId id="280" r:id="rId11"/>
    <p:sldId id="262" r:id="rId12"/>
    <p:sldId id="281" r:id="rId13"/>
    <p:sldId id="282" r:id="rId14"/>
    <p:sldId id="283" r:id="rId15"/>
    <p:sldId id="268" r:id="rId16"/>
    <p:sldId id="284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D4BF"/>
    <a:srgbClr val="FFBED1"/>
    <a:srgbClr val="C5BFBE"/>
    <a:srgbClr val="8074A8"/>
    <a:srgbClr val="C46487"/>
    <a:srgbClr val="C6C1F0"/>
    <a:srgbClr val="9C9290"/>
    <a:srgbClr val="26E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5AF4EB-6F82-4260-82B5-D617920F2B21}">
  <a:tblStyle styleId="{1B5AF4EB-6F82-4260-82B5-D617920F2B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35" autoAdjust="0"/>
  </p:normalViewPr>
  <p:slideViewPr>
    <p:cSldViewPr snapToGrid="0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E0DB391-F0DD-C12A-C788-5DD44DDA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2F6704C1-FC54-81AA-9D93-E5FBF2313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47EF669-C30E-77B1-07C1-66BC4FC18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29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9B53805-8310-367F-6A78-9228A227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7AA24299-0411-BEBC-2B88-05E04A030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0E515B0-F01E-E15D-9E2E-38DBE571C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348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AED120F-F19E-A07C-AE6B-F633C7B1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36B8BB2-145B-CBF8-9A00-F340B39ED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037CD83-C149-8DFD-0CEC-F332F84D6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928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67541B3-9107-4E8E-4A28-E8C33976B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470675F-A805-9958-9E0F-5FAD7484B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2C3775B-4AEC-EE7B-C27E-03C512655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569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DACE257-5953-F1D7-103E-9A291957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AD6A878-C7B7-5BA2-BE03-2DA7CD382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E60C03A-38F0-2762-0FB1-1C924EAAC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17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37B5B90-2942-71CF-2C99-987A6C6B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ED2C352-92DE-B9FB-A042-06589CC17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8CC4EC5-48C1-4C51-2843-E3AB6BC92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467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6082349-3684-07F0-5F41-D8656588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77748F22-04CF-A54D-9B92-2E2715A39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F412717-CF52-FF5C-580C-D7344E2C1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000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54F1F30-A14B-D7F7-1E59-6409A3687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47A73A7-F247-D4C7-61D7-6FE53BEEB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F0DAF34-0663-F09C-D057-F5CDCF891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881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7A13D91-D4C4-2BC5-702B-E8748B8F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64A522C-7FED-115F-E577-C8426DC8E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7A4FFEB-1ACF-FDE4-869C-7AA53A15C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006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E7EE6F22-2AB5-D1AA-457C-CED3D822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>
            <a:extLst>
              <a:ext uri="{FF2B5EF4-FFF2-40B4-BE49-F238E27FC236}">
                <a16:creationId xmlns:a16="http://schemas.microsoft.com/office/drawing/2014/main" id="{86DFC2F4-D2AE-F26D-FAA4-BD88614CB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>
            <a:extLst>
              <a:ext uri="{FF2B5EF4-FFF2-40B4-BE49-F238E27FC236}">
                <a16:creationId xmlns:a16="http://schemas.microsoft.com/office/drawing/2014/main" id="{7771189B-B6F6-7C03-50B9-F9C311876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2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1A3FFBDE-9488-8DB3-63C8-EE12511B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>
            <a:extLst>
              <a:ext uri="{FF2B5EF4-FFF2-40B4-BE49-F238E27FC236}">
                <a16:creationId xmlns:a16="http://schemas.microsoft.com/office/drawing/2014/main" id="{C59B0112-766D-A5B7-65EA-E8C114B29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>
            <a:extLst>
              <a:ext uri="{FF2B5EF4-FFF2-40B4-BE49-F238E27FC236}">
                <a16:creationId xmlns:a16="http://schemas.microsoft.com/office/drawing/2014/main" id="{F80B89BE-858D-CCC3-3BDE-2E99FAF81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742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3DA041EF-2C51-1E0B-7E57-BC9F7EDC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>
            <a:extLst>
              <a:ext uri="{FF2B5EF4-FFF2-40B4-BE49-F238E27FC236}">
                <a16:creationId xmlns:a16="http://schemas.microsoft.com/office/drawing/2014/main" id="{DEC5749B-11D8-F1C5-3F69-1FB21C4375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>
            <a:extLst>
              <a:ext uri="{FF2B5EF4-FFF2-40B4-BE49-F238E27FC236}">
                <a16:creationId xmlns:a16="http://schemas.microsoft.com/office/drawing/2014/main" id="{D61EC148-2427-7ECA-65EC-4345C9454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903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70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58AD694-F3DB-D84E-AECB-ABE3A2AD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E1DB684F-DBF8-67E5-7D5B-F2FBA8AC4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B29DDE03-488E-154F-86F1-030AD06ED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801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9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5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3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8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7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5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6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394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661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558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53718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039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384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360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36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3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14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4;p13" descr="image.png">
            <a:extLst>
              <a:ext uri="{FF2B5EF4-FFF2-40B4-BE49-F238E27FC236}">
                <a16:creationId xmlns:a16="http://schemas.microsoft.com/office/drawing/2014/main" id="{EE57536C-4B0A-8DC1-C44D-AB67FA06F4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7344" y="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5;p13"/>
          <p:cNvSpPr txBox="1"/>
          <p:nvPr/>
        </p:nvSpPr>
        <p:spPr>
          <a:xfrm>
            <a:off x="159799" y="278535"/>
            <a:ext cx="11601450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Crowdfunding Project</a:t>
            </a:r>
            <a:br>
              <a:rPr lang="en-US" sz="1800" b="0" i="0" u="none" strike="noStrike" cap="none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 Performance Analysis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7" name="Google Shape;86;p13"/>
          <p:cNvSpPr/>
          <p:nvPr/>
        </p:nvSpPr>
        <p:spPr>
          <a:xfrm>
            <a:off x="5551133" y="2299929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n>
                <a:solidFill>
                  <a:srgbClr val="26E07F"/>
                </a:solidFill>
              </a:ln>
              <a:solidFill>
                <a:srgbClr val="26E0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7;p13"/>
          <p:cNvSpPr txBox="1"/>
          <p:nvPr/>
        </p:nvSpPr>
        <p:spPr>
          <a:xfrm>
            <a:off x="571500" y="2575321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latin typeface="Inter"/>
                <a:ea typeface="Inter"/>
                <a:cs typeface="Inter"/>
                <a:sym typeface="Inter"/>
              </a:rPr>
              <a:t>Data-Driven Insights Across Multi-Platform Dashboards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4705535" y="3692141"/>
            <a:ext cx="25683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600" b="1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Presented By : Group 1</a:t>
            </a:r>
            <a:endParaRPr lang="en-US" sz="1600" dirty="0">
              <a:solidFill>
                <a:srgbClr val="2DD4B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A39205-2BC9-4C02-3A17-6D39DDD7F38C}"/>
              </a:ext>
            </a:extLst>
          </p:cNvPr>
          <p:cNvSpPr txBox="1"/>
          <p:nvPr/>
        </p:nvSpPr>
        <p:spPr>
          <a:xfrm>
            <a:off x="4225772" y="4332303"/>
            <a:ext cx="125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Karan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AFB56C-D7EF-1192-6B52-7BF56694BD28}"/>
              </a:ext>
            </a:extLst>
          </p:cNvPr>
          <p:cNvSpPr txBox="1"/>
          <p:nvPr/>
        </p:nvSpPr>
        <p:spPr>
          <a:xfrm>
            <a:off x="5345838" y="4360415"/>
            <a:ext cx="124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Aditya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20BD8-1F46-2335-F4A1-A01D12AACD8C}"/>
              </a:ext>
            </a:extLst>
          </p:cNvPr>
          <p:cNvSpPr txBox="1"/>
          <p:nvPr/>
        </p:nvSpPr>
        <p:spPr>
          <a:xfrm>
            <a:off x="6606467" y="4360415"/>
            <a:ext cx="125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Subham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D9DA8F-859B-90DD-9309-AB2003F99C3D}"/>
              </a:ext>
            </a:extLst>
          </p:cNvPr>
          <p:cNvSpPr txBox="1"/>
          <p:nvPr/>
        </p:nvSpPr>
        <p:spPr>
          <a:xfrm>
            <a:off x="6153706" y="4857565"/>
            <a:ext cx="125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Mounika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8E0949-2E01-FB7D-3F99-5C064899D863}"/>
              </a:ext>
            </a:extLst>
          </p:cNvPr>
          <p:cNvSpPr txBox="1"/>
          <p:nvPr/>
        </p:nvSpPr>
        <p:spPr>
          <a:xfrm>
            <a:off x="5052874" y="4848687"/>
            <a:ext cx="125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Sneha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5621FE-2F39-36D3-4D38-13C396EDA630}"/>
              </a:ext>
            </a:extLst>
          </p:cNvPr>
          <p:cNvSpPr txBox="1"/>
          <p:nvPr/>
        </p:nvSpPr>
        <p:spPr>
          <a:xfrm>
            <a:off x="3552547" y="4866443"/>
            <a:ext cx="134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HemaSree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38B812-F339-1537-E78A-5B323ED75DC1}"/>
              </a:ext>
            </a:extLst>
          </p:cNvPr>
          <p:cNvSpPr txBox="1"/>
          <p:nvPr/>
        </p:nvSpPr>
        <p:spPr>
          <a:xfrm>
            <a:off x="7563060" y="4848687"/>
            <a:ext cx="125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Janhvi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A140D3-67A3-66B3-1554-04345CABE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40148" y="2824886"/>
            <a:ext cx="2073422" cy="1500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5438CE3-6E8B-822F-DFAF-36AC7B21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0131D9C6-E46E-2E05-A0DE-F55304F69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5;p13">
            <a:extLst>
              <a:ext uri="{FF2B5EF4-FFF2-40B4-BE49-F238E27FC236}">
                <a16:creationId xmlns:a16="http://schemas.microsoft.com/office/drawing/2014/main" id="{AB484301-9C37-6BA7-B266-5C72BBFA177B}"/>
              </a:ext>
            </a:extLst>
          </p:cNvPr>
          <p:cNvSpPr txBox="1"/>
          <p:nvPr/>
        </p:nvSpPr>
        <p:spPr>
          <a:xfrm>
            <a:off x="-9886880" y="533593"/>
            <a:ext cx="9713144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Crowdfunding Project</a:t>
            </a:r>
            <a:br>
              <a:rPr lang="en-US" sz="1800" b="0" i="0" u="none" strike="noStrike" cap="none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 Performance Analysis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10" name="Google Shape;87;p13">
            <a:extLst>
              <a:ext uri="{FF2B5EF4-FFF2-40B4-BE49-F238E27FC236}">
                <a16:creationId xmlns:a16="http://schemas.microsoft.com/office/drawing/2014/main" id="{CB265BAF-2341-3CD5-574D-CF718D3FF927}"/>
              </a:ext>
            </a:extLst>
          </p:cNvPr>
          <p:cNvSpPr txBox="1"/>
          <p:nvPr/>
        </p:nvSpPr>
        <p:spPr>
          <a:xfrm>
            <a:off x="7260747" y="458007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3F5518F7-EF11-876F-D856-5A5662FC9D43}"/>
              </a:ext>
            </a:extLst>
          </p:cNvPr>
          <p:cNvSpPr txBox="1"/>
          <p:nvPr/>
        </p:nvSpPr>
        <p:spPr>
          <a:xfrm>
            <a:off x="9838295" y="458007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pic>
        <p:nvPicPr>
          <p:cNvPr id="15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13;p15"/>
          <p:cNvSpPr txBox="1"/>
          <p:nvPr/>
        </p:nvSpPr>
        <p:spPr>
          <a:xfrm>
            <a:off x="571500" y="27670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Crowdfunding is a method of raising capital through the collective effort of friends, family, customers, and individual investors.</a:t>
            </a:r>
            <a:endParaRPr/>
          </a:p>
        </p:txBody>
      </p:sp>
      <p:sp>
        <p:nvSpPr>
          <p:cNvPr id="17" name="Google Shape;114;p15"/>
          <p:cNvSpPr txBox="1"/>
          <p:nvPr/>
        </p:nvSpPr>
        <p:spPr>
          <a:xfrm>
            <a:off x="571500" y="387191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approach taps into the collective efforts of a large pool of individuals—primarily online via social media and crowdfunding platforms—and leverages their networks for greater reach and exposure.</a:t>
            </a:r>
            <a:endParaRPr/>
          </a:p>
        </p:txBody>
      </p:sp>
      <p:pic>
        <p:nvPicPr>
          <p:cNvPr id="18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23246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6;p15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Understanding Crowdfunding</a:t>
            </a:r>
            <a:endParaRPr lang="en-US" dirty="0">
              <a:solidFill>
                <a:srgbClr val="2DD4BF"/>
              </a:solidFill>
            </a:endParaRPr>
          </a:p>
        </p:txBody>
      </p:sp>
      <p:sp>
        <p:nvSpPr>
          <p:cNvPr id="20" name="Google Shape;117;p15"/>
          <p:cNvSpPr/>
          <p:nvPr/>
        </p:nvSpPr>
        <p:spPr>
          <a:xfrm>
            <a:off x="598661" y="491433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1753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1DC3B14-CD90-D3A2-F8C0-A6335459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A75F8856-446E-4750-EBB5-1A804F27F7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107" y="-2716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3">
            <a:extLst>
              <a:ext uri="{FF2B5EF4-FFF2-40B4-BE49-F238E27FC236}">
                <a16:creationId xmlns:a16="http://schemas.microsoft.com/office/drawing/2014/main" id="{15A5CA5C-0CAA-565A-64B0-197537279770}"/>
              </a:ext>
            </a:extLst>
          </p:cNvPr>
          <p:cNvSpPr txBox="1"/>
          <p:nvPr/>
        </p:nvSpPr>
        <p:spPr>
          <a:xfrm>
            <a:off x="7260747" y="458007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D8B0256A-C053-E46F-73E8-6FD7DB5F0635}"/>
              </a:ext>
            </a:extLst>
          </p:cNvPr>
          <p:cNvSpPr txBox="1"/>
          <p:nvPr/>
        </p:nvSpPr>
        <p:spPr>
          <a:xfrm>
            <a:off x="9838295" y="458007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pic>
        <p:nvPicPr>
          <p:cNvPr id="14" name="Google Shape;91;p14" descr="image.png">
            <a:extLst>
              <a:ext uri="{FF2B5EF4-FFF2-40B4-BE49-F238E27FC236}">
                <a16:creationId xmlns:a16="http://schemas.microsoft.com/office/drawing/2014/main" id="{B1F2474B-213C-86DB-8E8E-95AFFC14D0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AE25AE48-FFB4-F783-6349-D3D6FB355DB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685234" y="2304876"/>
            <a:ext cx="2442238" cy="278090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17;p15">
            <a:extLst>
              <a:ext uri="{FF2B5EF4-FFF2-40B4-BE49-F238E27FC236}">
                <a16:creationId xmlns:a16="http://schemas.microsoft.com/office/drawing/2014/main" id="{B4A3F1CB-3C5E-6374-BBB8-5F3BA6CEF7A5}"/>
              </a:ext>
            </a:extLst>
          </p:cNvPr>
          <p:cNvSpPr/>
          <p:nvPr/>
        </p:nvSpPr>
        <p:spPr>
          <a:xfrm>
            <a:off x="571500" y="518593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32757"/>
            <a:ext cx="2547937" cy="285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05187" y="2532757"/>
            <a:ext cx="2547937" cy="285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2532757"/>
            <a:ext cx="2547937" cy="285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72562" y="2532757"/>
            <a:ext cx="2547937" cy="285928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7852" y="368528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4361557"/>
            <a:ext cx="176688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TOTAL PROJECTS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751540" y="368528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3795712" y="4361557"/>
            <a:ext cx="17668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SUCCESSFUL PROJECTS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85227" y="368528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6629400" y="4361557"/>
            <a:ext cx="176688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418915" y="368528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9463087" y="4361557"/>
            <a:ext cx="17668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AVG. DAYS (SUCCESS)</a:t>
            </a:r>
            <a:endParaRPr dirty="0"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578768" y="296138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4441031" y="296138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12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274718" y="296138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0108406" y="296138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24" name="Google Shape;117;p15"/>
          <p:cNvSpPr/>
          <p:nvPr/>
        </p:nvSpPr>
        <p:spPr>
          <a:xfrm>
            <a:off x="580644" y="534924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61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42CA60D-B51D-44F2-3950-6B4F3932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69D366DC-B3E0-F0DB-E6E4-250DB2D31D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107" y="-2716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3">
            <a:extLst>
              <a:ext uri="{FF2B5EF4-FFF2-40B4-BE49-F238E27FC236}">
                <a16:creationId xmlns:a16="http://schemas.microsoft.com/office/drawing/2014/main" id="{7FA29078-6459-E98D-3D86-AF95FEA64269}"/>
              </a:ext>
            </a:extLst>
          </p:cNvPr>
          <p:cNvSpPr txBox="1"/>
          <p:nvPr/>
        </p:nvSpPr>
        <p:spPr>
          <a:xfrm>
            <a:off x="7260747" y="458007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93B2B0F3-61BE-9CB5-2A67-FD4ED9C89626}"/>
              </a:ext>
            </a:extLst>
          </p:cNvPr>
          <p:cNvSpPr txBox="1"/>
          <p:nvPr/>
        </p:nvSpPr>
        <p:spPr>
          <a:xfrm>
            <a:off x="9838295" y="458007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pic>
        <p:nvPicPr>
          <p:cNvPr id="14" name="Google Shape;91;p14" descr="image.png">
            <a:extLst>
              <a:ext uri="{FF2B5EF4-FFF2-40B4-BE49-F238E27FC236}">
                <a16:creationId xmlns:a16="http://schemas.microsoft.com/office/drawing/2014/main" id="{ADC2E71E-5F95-0D67-3B3B-65BB7EE90E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6337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02B39E49-59E1-9DD7-AF95-904EF4B489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831538" y="2533476"/>
            <a:ext cx="2442238" cy="278090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17;p15">
            <a:extLst>
              <a:ext uri="{FF2B5EF4-FFF2-40B4-BE49-F238E27FC236}">
                <a16:creationId xmlns:a16="http://schemas.microsoft.com/office/drawing/2014/main" id="{D3D41076-4AC9-921F-82A1-48EAAE7631EC}"/>
              </a:ext>
            </a:extLst>
          </p:cNvPr>
          <p:cNvSpPr/>
          <p:nvPr/>
        </p:nvSpPr>
        <p:spPr>
          <a:xfrm>
            <a:off x="571500" y="518593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 descr="image.png">
            <a:extLst>
              <a:ext uri="{FF2B5EF4-FFF2-40B4-BE49-F238E27FC236}">
                <a16:creationId xmlns:a16="http://schemas.microsoft.com/office/drawing/2014/main" id="{CF830E70-87D3-FF62-E418-E7674C68CE8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554" y="1773937"/>
            <a:ext cx="5911686" cy="459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3F188F88-A7D9-C811-4E27-90BD523444C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9976" y="2471596"/>
            <a:ext cx="1788530" cy="290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CCBB0222-B514-D529-FCCE-3664636F9BB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46883" y="2480646"/>
            <a:ext cx="1806590" cy="28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A7736CB7-2BD9-373C-5C36-37FFDB78E8D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02843" y="2435383"/>
            <a:ext cx="1770329" cy="2893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D4A2E34-2D41-7DC1-59FE-7D2B05820EAB}"/>
              </a:ext>
            </a:extLst>
          </p:cNvPr>
          <p:cNvSpPr txBox="1"/>
          <p:nvPr/>
        </p:nvSpPr>
        <p:spPr>
          <a:xfrm>
            <a:off x="1252830" y="2019445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AD7ADDFE-9021-7C27-F0A4-6221E67F79BC}"/>
              </a:ext>
            </a:extLst>
          </p:cNvPr>
          <p:cNvSpPr txBox="1"/>
          <p:nvPr/>
        </p:nvSpPr>
        <p:spPr>
          <a:xfrm>
            <a:off x="1315110" y="2433169"/>
            <a:ext cx="176688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TOTAL PROJECTS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CD42C914-1A24-0390-4D53-F30F308B6C4C}"/>
              </a:ext>
            </a:extLst>
          </p:cNvPr>
          <p:cNvSpPr txBox="1"/>
          <p:nvPr/>
        </p:nvSpPr>
        <p:spPr>
          <a:xfrm>
            <a:off x="6503793" y="3341251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5F45102C-5A56-13F9-0BE8-2BCA978EBB35}"/>
              </a:ext>
            </a:extLst>
          </p:cNvPr>
          <p:cNvSpPr txBox="1"/>
          <p:nvPr/>
        </p:nvSpPr>
        <p:spPr>
          <a:xfrm>
            <a:off x="6683768" y="3791187"/>
            <a:ext cx="169068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SUCCESSFUL PROJECTS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E3052DB3-767D-E389-F543-BA09BB6BFF0D}"/>
              </a:ext>
            </a:extLst>
          </p:cNvPr>
          <p:cNvSpPr txBox="1"/>
          <p:nvPr/>
        </p:nvSpPr>
        <p:spPr>
          <a:xfrm>
            <a:off x="8441188" y="3259769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D684552B-FDD4-5B9A-0450-69E4EA1DE832}"/>
              </a:ext>
            </a:extLst>
          </p:cNvPr>
          <p:cNvSpPr txBox="1"/>
          <p:nvPr/>
        </p:nvSpPr>
        <p:spPr>
          <a:xfrm>
            <a:off x="8747912" y="3773081"/>
            <a:ext cx="105699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dirty="0"/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B3266DF-60C6-9D9F-DC37-7C72C2B442EF}"/>
              </a:ext>
            </a:extLst>
          </p:cNvPr>
          <p:cNvSpPr txBox="1"/>
          <p:nvPr/>
        </p:nvSpPr>
        <p:spPr>
          <a:xfrm>
            <a:off x="10423849" y="3314090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82642170-5839-DA57-B170-68B6364D2374}"/>
              </a:ext>
            </a:extLst>
          </p:cNvPr>
          <p:cNvSpPr txBox="1"/>
          <p:nvPr/>
        </p:nvSpPr>
        <p:spPr>
          <a:xfrm>
            <a:off x="10474859" y="3809296"/>
            <a:ext cx="15970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AVG. DAYS (SUCCESS)</a:t>
            </a:r>
            <a:endParaRPr dirty="0"/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1E9B9427-E7B0-E0CD-4321-09F44FBE26E8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45849" y="192023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619F3A57-0408-A6FF-902C-C9E2C86D8FD9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256658" y="274409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C7B23FDF-D9B6-7FDA-4CE1-26E815AF17D8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9112571" y="273504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D987A89A-11CD-FBF7-D14D-2D09F6EE479F}"/>
              </a:ext>
            </a:extLst>
          </p:cNvPr>
          <p:cNvPicPr preferRelativeResize="0"/>
          <p:nvPr/>
        </p:nvPicPr>
        <p:blipFill rotWithShape="1">
          <a:blip r:embed="rId13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1004699" y="271693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>
            <a:extLst>
              <a:ext uri="{FF2B5EF4-FFF2-40B4-BE49-F238E27FC236}">
                <a16:creationId xmlns:a16="http://schemas.microsoft.com/office/drawing/2014/main" id="{52D297E5-C0C2-001C-8DBD-8E3956B4911F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24" name="Google Shape;117;p15">
            <a:extLst>
              <a:ext uri="{FF2B5EF4-FFF2-40B4-BE49-F238E27FC236}">
                <a16:creationId xmlns:a16="http://schemas.microsoft.com/office/drawing/2014/main" id="{79860C04-5DBA-D36D-AE6C-9E89AA6B270E}"/>
              </a:ext>
            </a:extLst>
          </p:cNvPr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EA66FB-4FD5-4116-AE72-F3D34E8BBE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42355" y="1993217"/>
            <a:ext cx="3072650" cy="40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21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E56397F-1F26-68B5-2E9E-A963CDA1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3A8AB496-65DB-3827-D10C-06CEB25956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054" y="-36214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3">
            <a:extLst>
              <a:ext uri="{FF2B5EF4-FFF2-40B4-BE49-F238E27FC236}">
                <a16:creationId xmlns:a16="http://schemas.microsoft.com/office/drawing/2014/main" id="{D76B329F-DB88-53A9-8927-EE188AB3B1DD}"/>
              </a:ext>
            </a:extLst>
          </p:cNvPr>
          <p:cNvSpPr txBox="1"/>
          <p:nvPr/>
        </p:nvSpPr>
        <p:spPr>
          <a:xfrm>
            <a:off x="7260747" y="458007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6EE9AB15-0B63-4CBF-DAE3-79B17CB0A77D}"/>
              </a:ext>
            </a:extLst>
          </p:cNvPr>
          <p:cNvSpPr txBox="1"/>
          <p:nvPr/>
        </p:nvSpPr>
        <p:spPr>
          <a:xfrm>
            <a:off x="9838295" y="458007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36129389-468A-573B-1E76-A26277F8FF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31538" y="2533476"/>
            <a:ext cx="2442238" cy="278090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17;p15">
            <a:extLst>
              <a:ext uri="{FF2B5EF4-FFF2-40B4-BE49-F238E27FC236}">
                <a16:creationId xmlns:a16="http://schemas.microsoft.com/office/drawing/2014/main" id="{D98C6F9C-8B43-5B44-2612-43378ACA9C80}"/>
              </a:ext>
            </a:extLst>
          </p:cNvPr>
          <p:cNvSpPr/>
          <p:nvPr/>
        </p:nvSpPr>
        <p:spPr>
          <a:xfrm>
            <a:off x="571500" y="518593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 descr="image.png">
            <a:extLst>
              <a:ext uri="{FF2B5EF4-FFF2-40B4-BE49-F238E27FC236}">
                <a16:creationId xmlns:a16="http://schemas.microsoft.com/office/drawing/2014/main" id="{ADABC47A-1707-FBF5-4512-54DF5792EC9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4" y="2344847"/>
            <a:ext cx="1810693" cy="2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CA37ECC6-B4FC-3E7D-1D8D-DB3E44EF8BF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1762" y="1892173"/>
            <a:ext cx="6364587" cy="4508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5BCE14EA-D0BE-EFB0-9FAD-FF23744E6D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46883" y="2480646"/>
            <a:ext cx="1806590" cy="28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449C5363-6C66-74AF-657B-5D99F9CA0DC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02843" y="2435383"/>
            <a:ext cx="1770329" cy="2893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3F66D680-60B2-0682-C343-F3F772DC24D9}"/>
              </a:ext>
            </a:extLst>
          </p:cNvPr>
          <p:cNvSpPr txBox="1"/>
          <p:nvPr/>
        </p:nvSpPr>
        <p:spPr>
          <a:xfrm>
            <a:off x="0" y="3286931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E68DF536-87F0-7AEB-67F4-287875C3860E}"/>
              </a:ext>
            </a:extLst>
          </p:cNvPr>
          <p:cNvSpPr txBox="1"/>
          <p:nvPr/>
        </p:nvSpPr>
        <p:spPr>
          <a:xfrm>
            <a:off x="237748" y="3754974"/>
            <a:ext cx="120175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TOTAL PROJECTS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07EA7A58-82B0-DEF6-00CA-8791123A22F7}"/>
              </a:ext>
            </a:extLst>
          </p:cNvPr>
          <p:cNvSpPr txBox="1"/>
          <p:nvPr/>
        </p:nvSpPr>
        <p:spPr>
          <a:xfrm>
            <a:off x="2583642" y="2128086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12F109F1-CA87-3804-6C9E-7FFA797586E9}"/>
              </a:ext>
            </a:extLst>
          </p:cNvPr>
          <p:cNvSpPr txBox="1"/>
          <p:nvPr/>
        </p:nvSpPr>
        <p:spPr>
          <a:xfrm>
            <a:off x="2709297" y="2487488"/>
            <a:ext cx="20437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SUCCESSFUL PROJECTS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11365B6F-5C0E-758C-D303-5D5781552907}"/>
              </a:ext>
            </a:extLst>
          </p:cNvPr>
          <p:cNvSpPr txBox="1"/>
          <p:nvPr/>
        </p:nvSpPr>
        <p:spPr>
          <a:xfrm>
            <a:off x="8441188" y="3259769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39E245F2-34CA-08AD-C5A6-3914B3C32379}"/>
              </a:ext>
            </a:extLst>
          </p:cNvPr>
          <p:cNvSpPr txBox="1"/>
          <p:nvPr/>
        </p:nvSpPr>
        <p:spPr>
          <a:xfrm>
            <a:off x="8747912" y="3773081"/>
            <a:ext cx="105699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dirty="0"/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B416F4C-E75B-9870-E752-74BCA454F3A2}"/>
              </a:ext>
            </a:extLst>
          </p:cNvPr>
          <p:cNvSpPr txBox="1"/>
          <p:nvPr/>
        </p:nvSpPr>
        <p:spPr>
          <a:xfrm>
            <a:off x="10423849" y="3314090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196691D0-ACC3-FAC8-7931-06A0EDE198C7}"/>
              </a:ext>
            </a:extLst>
          </p:cNvPr>
          <p:cNvSpPr txBox="1"/>
          <p:nvPr/>
        </p:nvSpPr>
        <p:spPr>
          <a:xfrm>
            <a:off x="10474859" y="3809296"/>
            <a:ext cx="15970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AVG. DAYS (SUCCESS)</a:t>
            </a:r>
            <a:endParaRPr dirty="0"/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967021DE-D65C-08E1-5567-D6CC242E6E79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91940" y="275315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1B6A2537-4DAB-F47E-2421-AEE5020DCA1A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2213877" y="21918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8A292C63-F997-8A81-0511-407A65935D16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9112571" y="273504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063E700F-2B32-F6FA-13FC-37DF8ECEF4AD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1004699" y="271693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>
            <a:extLst>
              <a:ext uri="{FF2B5EF4-FFF2-40B4-BE49-F238E27FC236}">
                <a16:creationId xmlns:a16="http://schemas.microsoft.com/office/drawing/2014/main" id="{4BA392BF-EE97-9A21-DD24-051AE48D757E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24" name="Google Shape;117;p15">
            <a:extLst>
              <a:ext uri="{FF2B5EF4-FFF2-40B4-BE49-F238E27FC236}">
                <a16:creationId xmlns:a16="http://schemas.microsoft.com/office/drawing/2014/main" id="{15690052-C55B-8518-3718-3D2C8909F0B0}"/>
              </a:ext>
            </a:extLst>
          </p:cNvPr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DF22E2-BAE7-26FA-661E-F279D7BC302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189" t="1622" r="8405" b="3421"/>
          <a:stretch>
            <a:fillRect/>
          </a:stretch>
        </p:blipFill>
        <p:spPr>
          <a:xfrm>
            <a:off x="4837176" y="2112264"/>
            <a:ext cx="3063240" cy="40173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</p:spTree>
    <p:extLst>
      <p:ext uri="{BB962C8B-B14F-4D97-AF65-F5344CB8AC3E}">
        <p14:creationId xmlns:p14="http://schemas.microsoft.com/office/powerpoint/2010/main" val="52526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E1B5485-EEA6-DA4B-5505-9B290646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5F3C2DC3-4604-1B1F-33CD-4C62670E120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144" y="-4572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3">
            <a:extLst>
              <a:ext uri="{FF2B5EF4-FFF2-40B4-BE49-F238E27FC236}">
                <a16:creationId xmlns:a16="http://schemas.microsoft.com/office/drawing/2014/main" id="{58349B09-0363-01B1-22C9-900695E1C0BB}"/>
              </a:ext>
            </a:extLst>
          </p:cNvPr>
          <p:cNvSpPr txBox="1"/>
          <p:nvPr/>
        </p:nvSpPr>
        <p:spPr>
          <a:xfrm>
            <a:off x="7260747" y="458007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F902289B-375E-C38E-974B-E30B28A8518C}"/>
              </a:ext>
            </a:extLst>
          </p:cNvPr>
          <p:cNvSpPr txBox="1"/>
          <p:nvPr/>
        </p:nvSpPr>
        <p:spPr>
          <a:xfrm>
            <a:off x="9838295" y="458007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9096B4A3-3540-4101-6108-AA9F5F2853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31538" y="2533476"/>
            <a:ext cx="2442238" cy="278090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17;p15">
            <a:extLst>
              <a:ext uri="{FF2B5EF4-FFF2-40B4-BE49-F238E27FC236}">
                <a16:creationId xmlns:a16="http://schemas.microsoft.com/office/drawing/2014/main" id="{CEF2BAC7-7CE7-84BC-5C3D-9E62ADD1359C}"/>
              </a:ext>
            </a:extLst>
          </p:cNvPr>
          <p:cNvSpPr/>
          <p:nvPr/>
        </p:nvSpPr>
        <p:spPr>
          <a:xfrm>
            <a:off x="571500" y="518593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 descr="image.png">
            <a:extLst>
              <a:ext uri="{FF2B5EF4-FFF2-40B4-BE49-F238E27FC236}">
                <a16:creationId xmlns:a16="http://schemas.microsoft.com/office/drawing/2014/main" id="{80F4A06C-FF77-2FE6-7802-48E0D079A6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5" y="2344847"/>
            <a:ext cx="1729212" cy="2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5E04DA51-47F4-CCF9-CB47-4E2FBC7877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46907" y="2362953"/>
            <a:ext cx="1837853" cy="285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E1857AAE-C65A-2790-5B6F-05DB394866F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93402" y="2118511"/>
            <a:ext cx="6264998" cy="4363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A3EFB73F-86AB-AB48-5B1B-0828023138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02843" y="2435383"/>
            <a:ext cx="1770329" cy="2893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9E4CFBD5-4B18-B221-0498-E33BB99F90B0}"/>
              </a:ext>
            </a:extLst>
          </p:cNvPr>
          <p:cNvSpPr txBox="1"/>
          <p:nvPr/>
        </p:nvSpPr>
        <p:spPr>
          <a:xfrm>
            <a:off x="0" y="3286931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350A6626-6C96-9CC9-8E23-310919C5F523}"/>
              </a:ext>
            </a:extLst>
          </p:cNvPr>
          <p:cNvSpPr txBox="1"/>
          <p:nvPr/>
        </p:nvSpPr>
        <p:spPr>
          <a:xfrm>
            <a:off x="237748" y="3754974"/>
            <a:ext cx="120175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TOTAL PROJECTS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6D2C0457-BB79-D891-2D6C-6B26F0F602CE}"/>
              </a:ext>
            </a:extLst>
          </p:cNvPr>
          <p:cNvSpPr txBox="1"/>
          <p:nvPr/>
        </p:nvSpPr>
        <p:spPr>
          <a:xfrm>
            <a:off x="1877472" y="3286930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9D4EFDB0-32F7-4801-92C3-A13E8DC21885}"/>
              </a:ext>
            </a:extLst>
          </p:cNvPr>
          <p:cNvSpPr txBox="1"/>
          <p:nvPr/>
        </p:nvSpPr>
        <p:spPr>
          <a:xfrm>
            <a:off x="1994072" y="3727811"/>
            <a:ext cx="1609206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SUCCESSFUL PROJECTS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6B24B891-DE24-7932-42D3-6FF6369E6977}"/>
              </a:ext>
            </a:extLst>
          </p:cNvPr>
          <p:cNvSpPr txBox="1"/>
          <p:nvPr/>
        </p:nvSpPr>
        <p:spPr>
          <a:xfrm>
            <a:off x="4602519" y="2254834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FC8817B5-8818-D9F2-AAD8-DBECD49A904F}"/>
              </a:ext>
            </a:extLst>
          </p:cNvPr>
          <p:cNvSpPr txBox="1"/>
          <p:nvPr/>
        </p:nvSpPr>
        <p:spPr>
          <a:xfrm>
            <a:off x="4882082" y="2632345"/>
            <a:ext cx="1518717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dirty="0"/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AB2E3C1-DD37-461A-3A00-0C7D1276B3F3}"/>
              </a:ext>
            </a:extLst>
          </p:cNvPr>
          <p:cNvSpPr txBox="1"/>
          <p:nvPr/>
        </p:nvSpPr>
        <p:spPr>
          <a:xfrm>
            <a:off x="10423849" y="3314090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9ADF9B06-CF02-4794-392C-F527EF0855AB}"/>
              </a:ext>
            </a:extLst>
          </p:cNvPr>
          <p:cNvSpPr txBox="1"/>
          <p:nvPr/>
        </p:nvSpPr>
        <p:spPr>
          <a:xfrm>
            <a:off x="10474859" y="3809296"/>
            <a:ext cx="15970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AVG. DAYS (SUCCESS)</a:t>
            </a:r>
            <a:endParaRPr dirty="0"/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DAE8C6ED-1906-04E3-FC38-FC33470C4E90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91940" y="275315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FBE3FED3-78B5-5EB2-377D-A1239DCCDAAB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2476428" y="268072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6BD2CC67-845F-4644-A9BB-D739476CCCFE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4051683" y="224615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91EC0526-8EF4-87E9-8411-D5CD5E4238DC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1004699" y="271693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>
            <a:extLst>
              <a:ext uri="{FF2B5EF4-FFF2-40B4-BE49-F238E27FC236}">
                <a16:creationId xmlns:a16="http://schemas.microsoft.com/office/drawing/2014/main" id="{7101EFAB-7EFB-6F6E-2A57-2B43AA47DCC0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24" name="Google Shape;117;p15">
            <a:extLst>
              <a:ext uri="{FF2B5EF4-FFF2-40B4-BE49-F238E27FC236}">
                <a16:creationId xmlns:a16="http://schemas.microsoft.com/office/drawing/2014/main" id="{2A52C0A5-198B-D632-2CDE-D63602CE2291}"/>
              </a:ext>
            </a:extLst>
          </p:cNvPr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8C943-EB6C-FECB-AF17-330343B07DA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128" t="3991" r="6055" b="4893"/>
          <a:stretch>
            <a:fillRect/>
          </a:stretch>
        </p:blipFill>
        <p:spPr>
          <a:xfrm>
            <a:off x="6629400" y="2386583"/>
            <a:ext cx="2798064" cy="38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2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0F5D9EC-55B5-C88D-960B-26A73406D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8790F8D8-3294-853C-06C7-BF80A18B459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6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3">
            <a:extLst>
              <a:ext uri="{FF2B5EF4-FFF2-40B4-BE49-F238E27FC236}">
                <a16:creationId xmlns:a16="http://schemas.microsoft.com/office/drawing/2014/main" id="{A219ED42-4339-A1CA-6015-776762FB2646}"/>
              </a:ext>
            </a:extLst>
          </p:cNvPr>
          <p:cNvSpPr txBox="1"/>
          <p:nvPr/>
        </p:nvSpPr>
        <p:spPr>
          <a:xfrm>
            <a:off x="7260747" y="458007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4E97EAFD-C238-9F4E-4CE8-4C5AC326E2FC}"/>
              </a:ext>
            </a:extLst>
          </p:cNvPr>
          <p:cNvSpPr txBox="1"/>
          <p:nvPr/>
        </p:nvSpPr>
        <p:spPr>
          <a:xfrm>
            <a:off x="9838295" y="458007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20CB0822-A427-22D7-7948-B793F11630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31538" y="2533476"/>
            <a:ext cx="2442238" cy="278090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17;p15">
            <a:extLst>
              <a:ext uri="{FF2B5EF4-FFF2-40B4-BE49-F238E27FC236}">
                <a16:creationId xmlns:a16="http://schemas.microsoft.com/office/drawing/2014/main" id="{91F2A413-5C9D-4E6C-2B2B-607E3FF4D920}"/>
              </a:ext>
            </a:extLst>
          </p:cNvPr>
          <p:cNvSpPr/>
          <p:nvPr/>
        </p:nvSpPr>
        <p:spPr>
          <a:xfrm>
            <a:off x="571500" y="518593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 descr="image.png">
            <a:extLst>
              <a:ext uri="{FF2B5EF4-FFF2-40B4-BE49-F238E27FC236}">
                <a16:creationId xmlns:a16="http://schemas.microsoft.com/office/drawing/2014/main" id="{D4E0964E-96D7-69C0-1EA8-5359E0ED4D1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5" y="2344847"/>
            <a:ext cx="1729212" cy="2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EEDFC12D-6240-C099-E2E6-3B6C1C5EB5E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5016" y="2335793"/>
            <a:ext cx="1738264" cy="285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B498A4C1-82DD-9542-E18C-D6B90995C46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4761" y="2326740"/>
            <a:ext cx="1638677" cy="28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3F955D63-C0A2-6507-A619-7284A666E42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23297" y="1774298"/>
            <a:ext cx="6586774" cy="419175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30BF3DB-223A-92B6-485F-780730AF1C1F}"/>
              </a:ext>
            </a:extLst>
          </p:cNvPr>
          <p:cNvSpPr txBox="1"/>
          <p:nvPr/>
        </p:nvSpPr>
        <p:spPr>
          <a:xfrm>
            <a:off x="0" y="3286931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F4397C43-3A90-D9E8-8758-ED6AA3246983}"/>
              </a:ext>
            </a:extLst>
          </p:cNvPr>
          <p:cNvSpPr txBox="1"/>
          <p:nvPr/>
        </p:nvSpPr>
        <p:spPr>
          <a:xfrm>
            <a:off x="237748" y="3754974"/>
            <a:ext cx="120175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TOTAL PROJECTS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88553766-1252-5046-8B65-270C2922B634}"/>
              </a:ext>
            </a:extLst>
          </p:cNvPr>
          <p:cNvSpPr txBox="1"/>
          <p:nvPr/>
        </p:nvSpPr>
        <p:spPr>
          <a:xfrm>
            <a:off x="1759776" y="3259769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650F9DCD-8D7A-BEA0-E2E5-6D8DE8C9FBC0}"/>
              </a:ext>
            </a:extLst>
          </p:cNvPr>
          <p:cNvSpPr txBox="1"/>
          <p:nvPr/>
        </p:nvSpPr>
        <p:spPr>
          <a:xfrm>
            <a:off x="1867324" y="3709704"/>
            <a:ext cx="1609206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SUCCESSFUL PROJECTS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3B23E428-446E-F8C5-07DE-68E9DFC8EE34}"/>
              </a:ext>
            </a:extLst>
          </p:cNvPr>
          <p:cNvSpPr txBox="1"/>
          <p:nvPr/>
        </p:nvSpPr>
        <p:spPr>
          <a:xfrm>
            <a:off x="3516104" y="329598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6358AC8D-AF15-5CAC-50D9-78EF212DE405}"/>
              </a:ext>
            </a:extLst>
          </p:cNvPr>
          <p:cNvSpPr txBox="1"/>
          <p:nvPr/>
        </p:nvSpPr>
        <p:spPr>
          <a:xfrm>
            <a:off x="3840937" y="3700654"/>
            <a:ext cx="113847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dirty="0"/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F1D0802B-15A7-860D-D787-5743B56FE371}"/>
              </a:ext>
            </a:extLst>
          </p:cNvPr>
          <p:cNvSpPr txBox="1"/>
          <p:nvPr/>
        </p:nvSpPr>
        <p:spPr>
          <a:xfrm>
            <a:off x="5978598" y="2055658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393F39E4-8E13-28DB-F10F-29F7D44AAC60}"/>
              </a:ext>
            </a:extLst>
          </p:cNvPr>
          <p:cNvSpPr txBox="1"/>
          <p:nvPr/>
        </p:nvSpPr>
        <p:spPr>
          <a:xfrm>
            <a:off x="6337426" y="2387902"/>
            <a:ext cx="180164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AVG. DAYS (SUCCESS)</a:t>
            </a:r>
            <a:endParaRPr dirty="0"/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42ADB8ED-8C17-BDA9-0AEA-DED93E1E2F5B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91940" y="275315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04B7459D-5A69-C8CD-4270-2A6FF7AB8208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2476428" y="268072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CD6C927F-01F5-F386-54DC-33CC205C37E3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4232752" y="275315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966592CA-5890-6323-BEDB-B94B3CAACE35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780849" y="201982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>
            <a:extLst>
              <a:ext uri="{FF2B5EF4-FFF2-40B4-BE49-F238E27FC236}">
                <a16:creationId xmlns:a16="http://schemas.microsoft.com/office/drawing/2014/main" id="{6507A4B8-A814-B046-849B-21BCAEC04196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24" name="Google Shape;117;p15">
            <a:extLst>
              <a:ext uri="{FF2B5EF4-FFF2-40B4-BE49-F238E27FC236}">
                <a16:creationId xmlns:a16="http://schemas.microsoft.com/office/drawing/2014/main" id="{8B96F155-F159-10AA-3B47-70DD3B367BA5}"/>
              </a:ext>
            </a:extLst>
          </p:cNvPr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112D3A-A9B7-3F89-8CFF-E1E458901C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94985" y="-448254"/>
            <a:ext cx="397015" cy="3293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71929B-22B0-1D6B-ED95-B8EE928E84C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7994" y="1915668"/>
            <a:ext cx="3343275" cy="38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61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B9610D3-008E-712B-0387-598E6D8D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>
            <a:extLst>
              <a:ext uri="{FF2B5EF4-FFF2-40B4-BE49-F238E27FC236}">
                <a16:creationId xmlns:a16="http://schemas.microsoft.com/office/drawing/2014/main" id="{3D043F28-E33E-85D9-C5DF-667CB768C57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107" y="-2716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87;p13">
            <a:extLst>
              <a:ext uri="{FF2B5EF4-FFF2-40B4-BE49-F238E27FC236}">
                <a16:creationId xmlns:a16="http://schemas.microsoft.com/office/drawing/2014/main" id="{3D612EEC-4611-EBBD-B3F7-8D834A6D2581}"/>
              </a:ext>
            </a:extLst>
          </p:cNvPr>
          <p:cNvSpPr txBox="1"/>
          <p:nvPr/>
        </p:nvSpPr>
        <p:spPr>
          <a:xfrm>
            <a:off x="7260747" y="455291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69" name="Google Shape;87;p13">
            <a:extLst>
              <a:ext uri="{FF2B5EF4-FFF2-40B4-BE49-F238E27FC236}">
                <a16:creationId xmlns:a16="http://schemas.microsoft.com/office/drawing/2014/main" id="{9FD374AF-0A9D-8459-44AD-1FFF24AD8487}"/>
              </a:ext>
            </a:extLst>
          </p:cNvPr>
          <p:cNvSpPr txBox="1"/>
          <p:nvPr/>
        </p:nvSpPr>
        <p:spPr>
          <a:xfrm>
            <a:off x="9838295" y="455291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70" name="Google Shape;117;p15">
            <a:extLst>
              <a:ext uri="{FF2B5EF4-FFF2-40B4-BE49-F238E27FC236}">
                <a16:creationId xmlns:a16="http://schemas.microsoft.com/office/drawing/2014/main" id="{97EA5B5F-1641-F9C7-FC48-246AAACBBD2B}"/>
              </a:ext>
            </a:extLst>
          </p:cNvPr>
          <p:cNvSpPr/>
          <p:nvPr/>
        </p:nvSpPr>
        <p:spPr>
          <a:xfrm>
            <a:off x="754380" y="253689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6FA60D6D-0D8C-583C-4FCF-85EAEF993D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31538" y="2533476"/>
            <a:ext cx="2442238" cy="2780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0454A92D-DC4C-2F70-D662-53C90C296C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450952" y="2527817"/>
            <a:ext cx="1738264" cy="285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F4224AA2-C15C-C79A-829C-DDC5B01D569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77127" y="2445612"/>
            <a:ext cx="1638677" cy="28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822DD431-C8E6-45CA-4EFB-C67EE4DC8AD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467975" y="2395728"/>
            <a:ext cx="1727311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2D777116-EC70-C08D-D8CF-96870F38A65E}"/>
              </a:ext>
            </a:extLst>
          </p:cNvPr>
          <p:cNvSpPr txBox="1"/>
          <p:nvPr/>
        </p:nvSpPr>
        <p:spPr>
          <a:xfrm>
            <a:off x="-2496312" y="3680123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09064EDF-E66F-16A4-4A60-66820ACCCB10}"/>
              </a:ext>
            </a:extLst>
          </p:cNvPr>
          <p:cNvSpPr txBox="1"/>
          <p:nvPr/>
        </p:nvSpPr>
        <p:spPr>
          <a:xfrm>
            <a:off x="-2501328" y="4101017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61B5599E-CE17-2573-E541-11961E64F322}"/>
              </a:ext>
            </a:extLst>
          </p:cNvPr>
          <p:cNvSpPr txBox="1"/>
          <p:nvPr/>
        </p:nvSpPr>
        <p:spPr>
          <a:xfrm>
            <a:off x="-2537224" y="453042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10FFCAFB-F457-E490-3938-A935B25DAB43}"/>
              </a:ext>
            </a:extLst>
          </p:cNvPr>
          <p:cNvSpPr txBox="1"/>
          <p:nvPr/>
        </p:nvSpPr>
        <p:spPr>
          <a:xfrm>
            <a:off x="-2561898" y="4917730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DC325A82-EFE0-2B26-C034-94DD37BBCBDA}"/>
              </a:ext>
            </a:extLst>
          </p:cNvPr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2124456" y="26434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CF2F4647-42E2-380D-6269-ABA59A57FC18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1373196" y="258928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1B5ABBDA-62A1-42B8-6B75-8555878918D8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2104040" y="310976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BD480AA6-4AB0-7D40-2804-624E890FC0E9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1360615" y="315367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>
            <a:extLst>
              <a:ext uri="{FF2B5EF4-FFF2-40B4-BE49-F238E27FC236}">
                <a16:creationId xmlns:a16="http://schemas.microsoft.com/office/drawing/2014/main" id="{14D857FE-C2BC-6171-B9F3-5482B3E47890}"/>
              </a:ext>
            </a:extLst>
          </p:cNvPr>
          <p:cNvSpPr txBox="1"/>
          <p:nvPr/>
        </p:nvSpPr>
        <p:spPr>
          <a:xfrm>
            <a:off x="-5757671" y="580644"/>
            <a:ext cx="600456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E2581C4-352C-7BED-3F68-BEB1F4B7DB2F}"/>
              </a:ext>
            </a:extLst>
          </p:cNvPr>
          <p:cNvGrpSpPr/>
          <p:nvPr/>
        </p:nvGrpSpPr>
        <p:grpSpPr>
          <a:xfrm>
            <a:off x="283464" y="1026413"/>
            <a:ext cx="9381744" cy="5411058"/>
            <a:chOff x="987552" y="1163573"/>
            <a:chExt cx="9381744" cy="5411058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D5F4C58-DBB4-FF57-9F79-DDFECF3C7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87552" y="1163573"/>
              <a:ext cx="8714232" cy="5411058"/>
            </a:xfrm>
            <a:prstGeom prst="rect">
              <a:avLst/>
            </a:prstGeom>
          </p:spPr>
        </p:pic>
        <p:sp>
          <p:nvSpPr>
            <p:cNvPr id="77" name="Google Shape;129;p16"/>
            <p:cNvSpPr/>
            <p:nvPr/>
          </p:nvSpPr>
          <p:spPr>
            <a:xfrm>
              <a:off x="6736030" y="3295569"/>
              <a:ext cx="210665" cy="241571"/>
            </a:xfrm>
            <a:prstGeom prst="roundRect">
              <a:avLst>
                <a:gd name="adj" fmla="val 50000"/>
              </a:avLst>
            </a:prstGeom>
            <a:solidFill>
              <a:srgbClr val="C464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29;p16"/>
            <p:cNvSpPr/>
            <p:nvPr/>
          </p:nvSpPr>
          <p:spPr>
            <a:xfrm>
              <a:off x="6764430" y="4341124"/>
              <a:ext cx="210665" cy="241571"/>
            </a:xfrm>
            <a:prstGeom prst="roundRect">
              <a:avLst>
                <a:gd name="adj" fmla="val 50000"/>
              </a:avLst>
            </a:prstGeom>
            <a:solidFill>
              <a:srgbClr val="C5BF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FAB1393-C1C4-21F4-5F95-51A05D8A7909}"/>
                </a:ext>
              </a:extLst>
            </p:cNvPr>
            <p:cNvGrpSpPr/>
            <p:nvPr/>
          </p:nvGrpSpPr>
          <p:grpSpPr>
            <a:xfrm>
              <a:off x="6726886" y="2218607"/>
              <a:ext cx="259129" cy="2865668"/>
              <a:chOff x="9155064" y="2694288"/>
              <a:chExt cx="234325" cy="2259827"/>
            </a:xfrm>
          </p:grpSpPr>
          <p:sp>
            <p:nvSpPr>
              <p:cNvPr id="75" name="Google Shape;127;p16"/>
              <p:cNvSpPr/>
              <p:nvPr/>
            </p:nvSpPr>
            <p:spPr>
              <a:xfrm>
                <a:off x="9155064" y="2694288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9C929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9C929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128;p16"/>
              <p:cNvSpPr/>
              <p:nvPr/>
            </p:nvSpPr>
            <p:spPr>
              <a:xfrm>
                <a:off x="9155064" y="3113388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C6C1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29;p16"/>
              <p:cNvSpPr/>
              <p:nvPr/>
            </p:nvSpPr>
            <p:spPr>
              <a:xfrm>
                <a:off x="9171601" y="3958880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8074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29;p16"/>
              <p:cNvSpPr/>
              <p:nvPr/>
            </p:nvSpPr>
            <p:spPr>
              <a:xfrm>
                <a:off x="9215747" y="4746008"/>
                <a:ext cx="173642" cy="208107"/>
              </a:xfrm>
              <a:prstGeom prst="roundRect">
                <a:avLst>
                  <a:gd name="adj" fmla="val 50000"/>
                </a:avLst>
              </a:prstGeom>
              <a:solidFill>
                <a:srgbClr val="FFBE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FDD10EE-485A-D887-8AD7-334FDC0BEE53}"/>
                </a:ext>
              </a:extLst>
            </p:cNvPr>
            <p:cNvGrpSpPr/>
            <p:nvPr/>
          </p:nvGrpSpPr>
          <p:grpSpPr>
            <a:xfrm>
              <a:off x="7288606" y="2185416"/>
              <a:ext cx="3080690" cy="2911933"/>
              <a:chOff x="9406200" y="2674503"/>
              <a:chExt cx="2785800" cy="2283361"/>
            </a:xfrm>
          </p:grpSpPr>
          <p:sp>
            <p:nvSpPr>
              <p:cNvPr id="72" name="Google Shape;124;p16"/>
              <p:cNvSpPr txBox="1"/>
              <p:nvPr/>
            </p:nvSpPr>
            <p:spPr>
              <a:xfrm>
                <a:off x="9406200" y="2674503"/>
                <a:ext cx="275272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Successful</a:t>
                </a:r>
                <a:endParaRPr dirty="0"/>
              </a:p>
            </p:txBody>
          </p:sp>
          <p:sp>
            <p:nvSpPr>
              <p:cNvPr id="73" name="Google Shape;125;p16"/>
              <p:cNvSpPr txBox="1"/>
              <p:nvPr/>
            </p:nvSpPr>
            <p:spPr>
              <a:xfrm>
                <a:off x="9439275" y="3102747"/>
                <a:ext cx="275272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Failed</a:t>
                </a:r>
                <a:endParaRPr dirty="0"/>
              </a:p>
            </p:txBody>
          </p:sp>
          <p:sp>
            <p:nvSpPr>
              <p:cNvPr id="74" name="Google Shape;126;p16"/>
              <p:cNvSpPr txBox="1"/>
              <p:nvPr/>
            </p:nvSpPr>
            <p:spPr>
              <a:xfrm>
                <a:off x="9439275" y="3521847"/>
                <a:ext cx="275272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Live</a:t>
                </a:r>
                <a:endParaRPr dirty="0"/>
              </a:p>
            </p:txBody>
          </p:sp>
          <p:sp>
            <p:nvSpPr>
              <p:cNvPr id="79" name="Google Shape;126;p16"/>
              <p:cNvSpPr txBox="1"/>
              <p:nvPr/>
            </p:nvSpPr>
            <p:spPr>
              <a:xfrm>
                <a:off x="9439275" y="3940947"/>
                <a:ext cx="275272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Cancelled</a:t>
                </a:r>
                <a:endParaRPr dirty="0"/>
              </a:p>
            </p:txBody>
          </p:sp>
          <p:sp>
            <p:nvSpPr>
              <p:cNvPr id="80" name="Google Shape;126;p16"/>
              <p:cNvSpPr txBox="1"/>
              <p:nvPr/>
            </p:nvSpPr>
            <p:spPr>
              <a:xfrm>
                <a:off x="9439274" y="4727032"/>
                <a:ext cx="235061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Purged</a:t>
                </a:r>
                <a:endParaRPr dirty="0"/>
              </a:p>
            </p:txBody>
          </p:sp>
          <p:sp>
            <p:nvSpPr>
              <p:cNvPr id="81" name="Google Shape;126;p16"/>
              <p:cNvSpPr txBox="1"/>
              <p:nvPr/>
            </p:nvSpPr>
            <p:spPr>
              <a:xfrm>
                <a:off x="9439274" y="4318600"/>
                <a:ext cx="275272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Suspended</a:t>
                </a:r>
                <a:endParaRPr dirty="0"/>
              </a:p>
            </p:txBody>
          </p:sp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A3F6F88-B1BE-EC5D-39C1-1FB76FB84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50720" y="1915279"/>
              <a:ext cx="4075176" cy="3443106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838B745-9F30-E98B-1A27-D410ADDD9217}"/>
              </a:ext>
            </a:extLst>
          </p:cNvPr>
          <p:cNvSpPr txBox="1"/>
          <p:nvPr/>
        </p:nvSpPr>
        <p:spPr>
          <a:xfrm>
            <a:off x="877824" y="274321"/>
            <a:ext cx="6437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Distributions of Outcomes</a:t>
            </a:r>
            <a:endParaRPr lang="en-US" sz="3200" dirty="0">
              <a:solidFill>
                <a:srgbClr val="2DD4BF"/>
              </a:solidFill>
            </a:endParaRPr>
          </a:p>
          <a:p>
            <a:endParaRPr lang="en-IN" sz="32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3274C10E-A913-14BA-FC17-48391BF1E1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59184" y="1033272"/>
            <a:ext cx="432816" cy="524865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C64122AD-916D-32B5-5DA4-300E9A87256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98936" y="1030224"/>
            <a:ext cx="432816" cy="524865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4016562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9084801-2080-034D-EFD1-F255F2E1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>
            <a:extLst>
              <a:ext uri="{FF2B5EF4-FFF2-40B4-BE49-F238E27FC236}">
                <a16:creationId xmlns:a16="http://schemas.microsoft.com/office/drawing/2014/main" id="{E3720228-5F9A-E1B3-94CB-FB0AC6FC21D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144" y="-8872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87;p13">
            <a:extLst>
              <a:ext uri="{FF2B5EF4-FFF2-40B4-BE49-F238E27FC236}">
                <a16:creationId xmlns:a16="http://schemas.microsoft.com/office/drawing/2014/main" id="{FD62A446-F271-CFAC-73AC-15A13A6B5A7A}"/>
              </a:ext>
            </a:extLst>
          </p:cNvPr>
          <p:cNvSpPr txBox="1"/>
          <p:nvPr/>
        </p:nvSpPr>
        <p:spPr>
          <a:xfrm>
            <a:off x="7260747" y="455291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69" name="Google Shape;87;p13">
            <a:extLst>
              <a:ext uri="{FF2B5EF4-FFF2-40B4-BE49-F238E27FC236}">
                <a16:creationId xmlns:a16="http://schemas.microsoft.com/office/drawing/2014/main" id="{87489A8C-6942-4BCC-02B9-52D59A9BD7C4}"/>
              </a:ext>
            </a:extLst>
          </p:cNvPr>
          <p:cNvSpPr txBox="1"/>
          <p:nvPr/>
        </p:nvSpPr>
        <p:spPr>
          <a:xfrm>
            <a:off x="9838295" y="455291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70" name="Google Shape;117;p15">
            <a:extLst>
              <a:ext uri="{FF2B5EF4-FFF2-40B4-BE49-F238E27FC236}">
                <a16:creationId xmlns:a16="http://schemas.microsoft.com/office/drawing/2014/main" id="{85E57CB6-9ABD-46C8-196B-63BA4E86168A}"/>
              </a:ext>
            </a:extLst>
          </p:cNvPr>
          <p:cNvSpPr/>
          <p:nvPr/>
        </p:nvSpPr>
        <p:spPr>
          <a:xfrm>
            <a:off x="114300" y="1488129"/>
            <a:ext cx="59436" cy="432111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0EDC1643-CD70-F88B-195D-22A7B0E23F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31538" y="2533476"/>
            <a:ext cx="2442238" cy="2780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88DD1278-CBF5-22C8-5DBD-9B74689F50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450952" y="2527817"/>
            <a:ext cx="1738264" cy="285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B5176919-374F-66C9-C73D-BEFE705B5EA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77127" y="2445612"/>
            <a:ext cx="1638677" cy="28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1C30BDC0-58D1-20DB-5AF6-CA45A5AFB09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467975" y="2395728"/>
            <a:ext cx="1727311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AF33F637-051E-E974-7986-3EC88B07CC38}"/>
              </a:ext>
            </a:extLst>
          </p:cNvPr>
          <p:cNvSpPr txBox="1"/>
          <p:nvPr/>
        </p:nvSpPr>
        <p:spPr>
          <a:xfrm>
            <a:off x="-2496312" y="3680123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4518AD41-7C81-1EE6-71AF-2073ABD2D483}"/>
              </a:ext>
            </a:extLst>
          </p:cNvPr>
          <p:cNvSpPr txBox="1"/>
          <p:nvPr/>
        </p:nvSpPr>
        <p:spPr>
          <a:xfrm>
            <a:off x="-2501328" y="4101017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43CE395B-F3E5-B1B1-CC81-D29D7BCF3A6D}"/>
              </a:ext>
            </a:extLst>
          </p:cNvPr>
          <p:cNvSpPr txBox="1"/>
          <p:nvPr/>
        </p:nvSpPr>
        <p:spPr>
          <a:xfrm>
            <a:off x="-2537224" y="453042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1D343C8F-29EE-4394-8885-B4AFC2BEF775}"/>
              </a:ext>
            </a:extLst>
          </p:cNvPr>
          <p:cNvSpPr txBox="1"/>
          <p:nvPr/>
        </p:nvSpPr>
        <p:spPr>
          <a:xfrm>
            <a:off x="-2561898" y="4917730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C0F1F910-294F-4E24-C810-231D8A568385}"/>
              </a:ext>
            </a:extLst>
          </p:cNvPr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2124456" y="26434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EF9B3624-0E1F-CEC5-0B1A-B89581EE6CEE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1373196" y="258928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41BEDDF1-F8ED-2E0B-F738-E3A80EBCFE0A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2104040" y="310976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25C8A9EB-95C7-700B-A5EC-7F86F6BD222D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1360615" y="315367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>
            <a:extLst>
              <a:ext uri="{FF2B5EF4-FFF2-40B4-BE49-F238E27FC236}">
                <a16:creationId xmlns:a16="http://schemas.microsoft.com/office/drawing/2014/main" id="{9BD6A2AC-12A1-AE18-4173-A84FAC62532E}"/>
              </a:ext>
            </a:extLst>
          </p:cNvPr>
          <p:cNvSpPr txBox="1"/>
          <p:nvPr/>
        </p:nvSpPr>
        <p:spPr>
          <a:xfrm>
            <a:off x="-5757671" y="580644"/>
            <a:ext cx="600456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783F7BD-5644-E9A9-8BCA-C3945675DDAE}"/>
              </a:ext>
            </a:extLst>
          </p:cNvPr>
          <p:cNvGrpSpPr/>
          <p:nvPr/>
        </p:nvGrpSpPr>
        <p:grpSpPr>
          <a:xfrm>
            <a:off x="-146304" y="2315717"/>
            <a:ext cx="2697480" cy="3216403"/>
            <a:chOff x="835251" y="1313153"/>
            <a:chExt cx="9808187" cy="5411058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DCF04DD1-CD90-FA37-5726-1328C621A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35251" y="1313153"/>
              <a:ext cx="9808187" cy="5411058"/>
            </a:xfrm>
            <a:prstGeom prst="rect">
              <a:avLst/>
            </a:prstGeom>
          </p:spPr>
        </p:pic>
        <p:sp>
          <p:nvSpPr>
            <p:cNvPr id="77" name="Google Shape;129;p16">
              <a:extLst>
                <a:ext uri="{FF2B5EF4-FFF2-40B4-BE49-F238E27FC236}">
                  <a16:creationId xmlns:a16="http://schemas.microsoft.com/office/drawing/2014/main" id="{24841650-22F4-B619-D703-161F6AD39D2C}"/>
                </a:ext>
              </a:extLst>
            </p:cNvPr>
            <p:cNvSpPr/>
            <p:nvPr/>
          </p:nvSpPr>
          <p:spPr>
            <a:xfrm>
              <a:off x="6736030" y="3295569"/>
              <a:ext cx="210665" cy="241571"/>
            </a:xfrm>
            <a:prstGeom prst="roundRect">
              <a:avLst>
                <a:gd name="adj" fmla="val 50000"/>
              </a:avLst>
            </a:prstGeom>
            <a:solidFill>
              <a:srgbClr val="C464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29;p16">
              <a:extLst>
                <a:ext uri="{FF2B5EF4-FFF2-40B4-BE49-F238E27FC236}">
                  <a16:creationId xmlns:a16="http://schemas.microsoft.com/office/drawing/2014/main" id="{9148A48F-6BDA-D11B-8EE0-29A270167997}"/>
                </a:ext>
              </a:extLst>
            </p:cNvPr>
            <p:cNvSpPr/>
            <p:nvPr/>
          </p:nvSpPr>
          <p:spPr>
            <a:xfrm>
              <a:off x="6764430" y="4341124"/>
              <a:ext cx="210665" cy="241571"/>
            </a:xfrm>
            <a:prstGeom prst="roundRect">
              <a:avLst>
                <a:gd name="adj" fmla="val 50000"/>
              </a:avLst>
            </a:prstGeom>
            <a:solidFill>
              <a:srgbClr val="C5BF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6F6EFADF-EE9C-F4E9-AADA-EC68EF834E16}"/>
                </a:ext>
              </a:extLst>
            </p:cNvPr>
            <p:cNvGrpSpPr/>
            <p:nvPr/>
          </p:nvGrpSpPr>
          <p:grpSpPr>
            <a:xfrm>
              <a:off x="6726886" y="2218607"/>
              <a:ext cx="259129" cy="2865668"/>
              <a:chOff x="9155064" y="2694288"/>
              <a:chExt cx="234325" cy="2259827"/>
            </a:xfrm>
          </p:grpSpPr>
          <p:sp>
            <p:nvSpPr>
              <p:cNvPr id="75" name="Google Shape;127;p16">
                <a:extLst>
                  <a:ext uri="{FF2B5EF4-FFF2-40B4-BE49-F238E27FC236}">
                    <a16:creationId xmlns:a16="http://schemas.microsoft.com/office/drawing/2014/main" id="{2A931EA4-49B4-9ED8-DBAA-E29B012B5D69}"/>
                  </a:ext>
                </a:extLst>
              </p:cNvPr>
              <p:cNvSpPr/>
              <p:nvPr/>
            </p:nvSpPr>
            <p:spPr>
              <a:xfrm>
                <a:off x="9155064" y="2694288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9C929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9C929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128;p16">
                <a:extLst>
                  <a:ext uri="{FF2B5EF4-FFF2-40B4-BE49-F238E27FC236}">
                    <a16:creationId xmlns:a16="http://schemas.microsoft.com/office/drawing/2014/main" id="{42466EE6-322D-3DBB-F7C8-7C6F5F509CD5}"/>
                  </a:ext>
                </a:extLst>
              </p:cNvPr>
              <p:cNvSpPr/>
              <p:nvPr/>
            </p:nvSpPr>
            <p:spPr>
              <a:xfrm>
                <a:off x="9155064" y="3113388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C6C1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29;p16">
                <a:extLst>
                  <a:ext uri="{FF2B5EF4-FFF2-40B4-BE49-F238E27FC236}">
                    <a16:creationId xmlns:a16="http://schemas.microsoft.com/office/drawing/2014/main" id="{577F050F-1BFA-4CB3-3E0E-89AB260DE3EA}"/>
                  </a:ext>
                </a:extLst>
              </p:cNvPr>
              <p:cNvSpPr/>
              <p:nvPr/>
            </p:nvSpPr>
            <p:spPr>
              <a:xfrm>
                <a:off x="9171601" y="3958880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8074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29;p16">
                <a:extLst>
                  <a:ext uri="{FF2B5EF4-FFF2-40B4-BE49-F238E27FC236}">
                    <a16:creationId xmlns:a16="http://schemas.microsoft.com/office/drawing/2014/main" id="{E39F3DF7-91D9-FD4F-BFD9-666F14AD0674}"/>
                  </a:ext>
                </a:extLst>
              </p:cNvPr>
              <p:cNvSpPr/>
              <p:nvPr/>
            </p:nvSpPr>
            <p:spPr>
              <a:xfrm>
                <a:off x="9215747" y="4746008"/>
                <a:ext cx="173642" cy="208107"/>
              </a:xfrm>
              <a:prstGeom prst="roundRect">
                <a:avLst>
                  <a:gd name="adj" fmla="val 50000"/>
                </a:avLst>
              </a:prstGeom>
              <a:solidFill>
                <a:srgbClr val="FFBE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AAD51A68-D75B-543D-0E3A-217DBA9E238C}"/>
                </a:ext>
              </a:extLst>
            </p:cNvPr>
            <p:cNvGrpSpPr/>
            <p:nvPr/>
          </p:nvGrpSpPr>
          <p:grpSpPr>
            <a:xfrm>
              <a:off x="7288606" y="2213466"/>
              <a:ext cx="3080690" cy="2855831"/>
              <a:chOff x="9406200" y="2696498"/>
              <a:chExt cx="2785800" cy="2239369"/>
            </a:xfrm>
          </p:grpSpPr>
          <p:sp>
            <p:nvSpPr>
              <p:cNvPr id="72" name="Google Shape;124;p16">
                <a:extLst>
                  <a:ext uri="{FF2B5EF4-FFF2-40B4-BE49-F238E27FC236}">
                    <a16:creationId xmlns:a16="http://schemas.microsoft.com/office/drawing/2014/main" id="{7682CBE1-020C-7CB4-D17D-7E449B7BEB7F}"/>
                  </a:ext>
                </a:extLst>
              </p:cNvPr>
              <p:cNvSpPr txBox="1"/>
              <p:nvPr/>
            </p:nvSpPr>
            <p:spPr>
              <a:xfrm>
                <a:off x="9406200" y="2696498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Successful</a:t>
                </a:r>
                <a:endParaRPr sz="800" dirty="0"/>
              </a:p>
            </p:txBody>
          </p:sp>
          <p:sp>
            <p:nvSpPr>
              <p:cNvPr id="73" name="Google Shape;125;p16">
                <a:extLst>
                  <a:ext uri="{FF2B5EF4-FFF2-40B4-BE49-F238E27FC236}">
                    <a16:creationId xmlns:a16="http://schemas.microsoft.com/office/drawing/2014/main" id="{CCF67B1C-4B4E-246A-3A1E-1935C6FA86E1}"/>
                  </a:ext>
                </a:extLst>
              </p:cNvPr>
              <p:cNvSpPr txBox="1"/>
              <p:nvPr/>
            </p:nvSpPr>
            <p:spPr>
              <a:xfrm>
                <a:off x="9439276" y="3124742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Failed</a:t>
                </a:r>
                <a:endParaRPr sz="800" dirty="0"/>
              </a:p>
            </p:txBody>
          </p:sp>
          <p:sp>
            <p:nvSpPr>
              <p:cNvPr id="74" name="Google Shape;126;p16">
                <a:extLst>
                  <a:ext uri="{FF2B5EF4-FFF2-40B4-BE49-F238E27FC236}">
                    <a16:creationId xmlns:a16="http://schemas.microsoft.com/office/drawing/2014/main" id="{24249DDE-2D0D-F91A-B911-55DE8526CB95}"/>
                  </a:ext>
                </a:extLst>
              </p:cNvPr>
              <p:cNvSpPr txBox="1"/>
              <p:nvPr/>
            </p:nvSpPr>
            <p:spPr>
              <a:xfrm>
                <a:off x="9439276" y="3543842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Live</a:t>
                </a:r>
                <a:endParaRPr sz="800" dirty="0"/>
              </a:p>
            </p:txBody>
          </p:sp>
          <p:sp>
            <p:nvSpPr>
              <p:cNvPr id="79" name="Google Shape;126;p16">
                <a:extLst>
                  <a:ext uri="{FF2B5EF4-FFF2-40B4-BE49-F238E27FC236}">
                    <a16:creationId xmlns:a16="http://schemas.microsoft.com/office/drawing/2014/main" id="{0C9851B5-1781-DD1B-D95F-4473552957B0}"/>
                  </a:ext>
                </a:extLst>
              </p:cNvPr>
              <p:cNvSpPr txBox="1"/>
              <p:nvPr/>
            </p:nvSpPr>
            <p:spPr>
              <a:xfrm>
                <a:off x="9439276" y="3962942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Cancelled</a:t>
                </a:r>
                <a:endParaRPr sz="800" dirty="0"/>
              </a:p>
            </p:txBody>
          </p:sp>
          <p:sp>
            <p:nvSpPr>
              <p:cNvPr id="80" name="Google Shape;126;p16">
                <a:extLst>
                  <a:ext uri="{FF2B5EF4-FFF2-40B4-BE49-F238E27FC236}">
                    <a16:creationId xmlns:a16="http://schemas.microsoft.com/office/drawing/2014/main" id="{1060480F-014A-BA68-8746-2C4F746C53F8}"/>
                  </a:ext>
                </a:extLst>
              </p:cNvPr>
              <p:cNvSpPr txBox="1"/>
              <p:nvPr/>
            </p:nvSpPr>
            <p:spPr>
              <a:xfrm>
                <a:off x="9439273" y="4749027"/>
                <a:ext cx="2350610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Purged</a:t>
                </a:r>
                <a:endParaRPr sz="800" dirty="0"/>
              </a:p>
            </p:txBody>
          </p:sp>
          <p:sp>
            <p:nvSpPr>
              <p:cNvPr id="81" name="Google Shape;126;p16">
                <a:extLst>
                  <a:ext uri="{FF2B5EF4-FFF2-40B4-BE49-F238E27FC236}">
                    <a16:creationId xmlns:a16="http://schemas.microsoft.com/office/drawing/2014/main" id="{16148115-2ABC-D2B2-B96C-7CE6E7BE4DE3}"/>
                  </a:ext>
                </a:extLst>
              </p:cNvPr>
              <p:cNvSpPr txBox="1"/>
              <p:nvPr/>
            </p:nvSpPr>
            <p:spPr>
              <a:xfrm>
                <a:off x="9439273" y="4340595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Suspended</a:t>
                </a:r>
                <a:endParaRPr sz="800" dirty="0"/>
              </a:p>
            </p:txBody>
          </p:sp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5293777-67BA-6B94-8DA1-418C992D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65686" y="2315244"/>
              <a:ext cx="4455244" cy="2612485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809D358-FC16-BF47-D41F-A750B28E45AF}"/>
              </a:ext>
            </a:extLst>
          </p:cNvPr>
          <p:cNvSpPr txBox="1"/>
          <p:nvPr/>
        </p:nvSpPr>
        <p:spPr>
          <a:xfrm>
            <a:off x="301752" y="1389888"/>
            <a:ext cx="203911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Distributions of Outcomes</a:t>
            </a:r>
            <a:endParaRPr lang="en-US" sz="1800" dirty="0">
              <a:solidFill>
                <a:srgbClr val="2DD4BF"/>
              </a:solidFill>
            </a:endParaRPr>
          </a:p>
          <a:p>
            <a:endParaRPr lang="en-IN" sz="32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37E41426-3E21-28C4-AF6B-F9711D744A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59184" y="1033272"/>
            <a:ext cx="432816" cy="524865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0CCBED16-0BB2-E33E-F80E-0393B115C49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1760" y="993648"/>
            <a:ext cx="8997696" cy="561746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4" name="Google Shape;117;p15">
            <a:extLst>
              <a:ext uri="{FF2B5EF4-FFF2-40B4-BE49-F238E27FC236}">
                <a16:creationId xmlns:a16="http://schemas.microsoft.com/office/drawing/2014/main" id="{2ABE5CB9-17DA-E2F7-7A53-ABCB3C1C75E5}"/>
              </a:ext>
            </a:extLst>
          </p:cNvPr>
          <p:cNvSpPr/>
          <p:nvPr/>
        </p:nvSpPr>
        <p:spPr>
          <a:xfrm>
            <a:off x="3229715" y="234815"/>
            <a:ext cx="71713" cy="393873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DD4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6AF9B-66E9-4AAE-790D-C389EC250DEE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9475" t="27017" r="26279" b="11370"/>
          <a:stretch/>
        </p:blipFill>
        <p:spPr>
          <a:xfrm>
            <a:off x="3127247" y="1262702"/>
            <a:ext cx="8323881" cy="37742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FC2300-BE86-62B2-E447-710F7B24421D}"/>
              </a:ext>
            </a:extLst>
          </p:cNvPr>
          <p:cNvSpPr txBox="1"/>
          <p:nvPr/>
        </p:nvSpPr>
        <p:spPr>
          <a:xfrm>
            <a:off x="3042870" y="5450392"/>
            <a:ext cx="8390504" cy="738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400" b="1" i="0" u="none" strike="noStrike" cap="none" dirty="0"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lang="en-US" sz="1400" dirty="0">
                <a:latin typeface="Inter"/>
                <a:ea typeface="Inter"/>
                <a:cs typeface="Inter"/>
                <a:sym typeface="Inter"/>
              </a:rPr>
              <a:t> The number of projects grew quickly from 2009 and reached a high of 59,000 in 2014. After that peak, the totals began to drop, showing a very sharp decrease by 2019.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F3B6A-F18E-70E5-1322-1F2AFD8527D1}"/>
              </a:ext>
            </a:extLst>
          </p:cNvPr>
          <p:cNvSpPr txBox="1"/>
          <p:nvPr/>
        </p:nvSpPr>
        <p:spPr>
          <a:xfrm>
            <a:off x="3566160" y="146305"/>
            <a:ext cx="7126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Market Growth Over Time</a:t>
            </a:r>
            <a:endParaRPr lang="en-US" sz="3600" dirty="0">
              <a:solidFill>
                <a:srgbClr val="2DD4BF"/>
              </a:solidFill>
            </a:endParaRP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525313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0891165-ADED-CF74-8D9B-A10F8519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>
            <a:extLst>
              <a:ext uri="{FF2B5EF4-FFF2-40B4-BE49-F238E27FC236}">
                <a16:creationId xmlns:a16="http://schemas.microsoft.com/office/drawing/2014/main" id="{CAE69F5C-5156-038D-5919-40C976AF122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107" y="-27160"/>
            <a:ext cx="12210107" cy="68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87;p13">
            <a:extLst>
              <a:ext uri="{FF2B5EF4-FFF2-40B4-BE49-F238E27FC236}">
                <a16:creationId xmlns:a16="http://schemas.microsoft.com/office/drawing/2014/main" id="{82B3DE06-B971-4035-15EB-1988BDDD0C5B}"/>
              </a:ext>
            </a:extLst>
          </p:cNvPr>
          <p:cNvSpPr txBox="1"/>
          <p:nvPr/>
        </p:nvSpPr>
        <p:spPr>
          <a:xfrm>
            <a:off x="7260747" y="4552911"/>
            <a:ext cx="384437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69" name="Google Shape;87;p13">
            <a:extLst>
              <a:ext uri="{FF2B5EF4-FFF2-40B4-BE49-F238E27FC236}">
                <a16:creationId xmlns:a16="http://schemas.microsoft.com/office/drawing/2014/main" id="{0ABFEBA6-04D1-5FE0-449F-B9679C242446}"/>
              </a:ext>
            </a:extLst>
          </p:cNvPr>
          <p:cNvSpPr txBox="1"/>
          <p:nvPr/>
        </p:nvSpPr>
        <p:spPr>
          <a:xfrm>
            <a:off x="9838295" y="4552911"/>
            <a:ext cx="205843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70" name="Google Shape;117;p15">
            <a:extLst>
              <a:ext uri="{FF2B5EF4-FFF2-40B4-BE49-F238E27FC236}">
                <a16:creationId xmlns:a16="http://schemas.microsoft.com/office/drawing/2014/main" id="{2EB2118A-F930-D783-549E-0D37F03C0139}"/>
              </a:ext>
            </a:extLst>
          </p:cNvPr>
          <p:cNvSpPr/>
          <p:nvPr/>
        </p:nvSpPr>
        <p:spPr>
          <a:xfrm>
            <a:off x="77724" y="1607001"/>
            <a:ext cx="59436" cy="432111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15;p15" descr="image.png">
            <a:extLst>
              <a:ext uri="{FF2B5EF4-FFF2-40B4-BE49-F238E27FC236}">
                <a16:creationId xmlns:a16="http://schemas.microsoft.com/office/drawing/2014/main" id="{4B2DD52F-0BE4-D2FA-A963-8EE79A482A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31538" y="2533476"/>
            <a:ext cx="2442238" cy="2780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F7B670DC-9576-582C-115D-1FEA3FA6EC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450952" y="2527817"/>
            <a:ext cx="1738264" cy="285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F8FE2B1D-12A3-A27C-6B74-4B04DD1DE73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277127" y="2445612"/>
            <a:ext cx="1638677" cy="28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5EA0561E-0973-BCB7-AFC2-7A8CE33E82E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467975" y="2395728"/>
            <a:ext cx="1727311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425ED32C-BEBD-0D8B-A18D-F34358CEF93F}"/>
              </a:ext>
            </a:extLst>
          </p:cNvPr>
          <p:cNvSpPr txBox="1"/>
          <p:nvPr/>
        </p:nvSpPr>
        <p:spPr>
          <a:xfrm>
            <a:off x="-2496312" y="3680123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3,65,892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8D11FA9D-F062-0FCB-4283-03233F4F082B}"/>
              </a:ext>
            </a:extLst>
          </p:cNvPr>
          <p:cNvSpPr txBox="1"/>
          <p:nvPr/>
        </p:nvSpPr>
        <p:spPr>
          <a:xfrm>
            <a:off x="-2501328" y="4101017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1,40,313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EF25D621-0DA3-FC2B-548B-B5EDF8756F0D}"/>
              </a:ext>
            </a:extLst>
          </p:cNvPr>
          <p:cNvSpPr txBox="1"/>
          <p:nvPr/>
        </p:nvSpPr>
        <p:spPr>
          <a:xfrm>
            <a:off x="-2537224" y="4530422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38.35%</a:t>
            </a:r>
            <a:endParaRPr dirty="0"/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8CDFDA3B-D615-7760-0894-E14AD1DB7E82}"/>
              </a:ext>
            </a:extLst>
          </p:cNvPr>
          <p:cNvSpPr txBox="1"/>
          <p:nvPr/>
        </p:nvSpPr>
        <p:spPr>
          <a:xfrm>
            <a:off x="-2561898" y="4917730"/>
            <a:ext cx="185523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80.43</a:t>
            </a:r>
            <a:endParaRPr dirty="0"/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F0F0620D-9955-7976-E1B6-0DA9A933E5D2}"/>
              </a:ext>
            </a:extLst>
          </p:cNvPr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2124456" y="26434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01A121A1-1678-42CC-5153-4C0B6953C7C3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1373196" y="258928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C9D9F00C-E346-B1A5-48BC-20472C55AB73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2104040" y="310976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A25B6E77-2FF9-3E40-AA06-80E2086A054C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2DD4B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-1360615" y="315367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6;p15">
            <a:extLst>
              <a:ext uri="{FF2B5EF4-FFF2-40B4-BE49-F238E27FC236}">
                <a16:creationId xmlns:a16="http://schemas.microsoft.com/office/drawing/2014/main" id="{FEC2F733-AADB-93C6-9AF7-5B9CA72C1CDB}"/>
              </a:ext>
            </a:extLst>
          </p:cNvPr>
          <p:cNvSpPr txBox="1"/>
          <p:nvPr/>
        </p:nvSpPr>
        <p:spPr>
          <a:xfrm>
            <a:off x="-5757671" y="580644"/>
            <a:ext cx="600456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 dirty="0">
              <a:solidFill>
                <a:srgbClr val="2DD4BF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BDFAAD5-E1A5-DE61-C0E7-CA7088647A6D}"/>
              </a:ext>
            </a:extLst>
          </p:cNvPr>
          <p:cNvGrpSpPr/>
          <p:nvPr/>
        </p:nvGrpSpPr>
        <p:grpSpPr>
          <a:xfrm>
            <a:off x="-173736" y="2269997"/>
            <a:ext cx="2468880" cy="3975355"/>
            <a:chOff x="835251" y="1313153"/>
            <a:chExt cx="9808187" cy="5411058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D199E6E5-5851-CAEC-641C-ADD02966B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35251" y="1313153"/>
              <a:ext cx="9808187" cy="5411058"/>
            </a:xfrm>
            <a:prstGeom prst="rect">
              <a:avLst/>
            </a:prstGeom>
          </p:spPr>
        </p:pic>
        <p:sp>
          <p:nvSpPr>
            <p:cNvPr id="77" name="Google Shape;129;p16">
              <a:extLst>
                <a:ext uri="{FF2B5EF4-FFF2-40B4-BE49-F238E27FC236}">
                  <a16:creationId xmlns:a16="http://schemas.microsoft.com/office/drawing/2014/main" id="{C93A660C-4113-8819-6C0F-1831BED213A3}"/>
                </a:ext>
              </a:extLst>
            </p:cNvPr>
            <p:cNvSpPr/>
            <p:nvPr/>
          </p:nvSpPr>
          <p:spPr>
            <a:xfrm>
              <a:off x="6736030" y="3295569"/>
              <a:ext cx="210665" cy="241571"/>
            </a:xfrm>
            <a:prstGeom prst="roundRect">
              <a:avLst>
                <a:gd name="adj" fmla="val 50000"/>
              </a:avLst>
            </a:prstGeom>
            <a:solidFill>
              <a:srgbClr val="C464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29;p16">
              <a:extLst>
                <a:ext uri="{FF2B5EF4-FFF2-40B4-BE49-F238E27FC236}">
                  <a16:creationId xmlns:a16="http://schemas.microsoft.com/office/drawing/2014/main" id="{44E639A7-30D8-A242-EA8E-A0EFFE6A18B5}"/>
                </a:ext>
              </a:extLst>
            </p:cNvPr>
            <p:cNvSpPr/>
            <p:nvPr/>
          </p:nvSpPr>
          <p:spPr>
            <a:xfrm>
              <a:off x="6764430" y="4341124"/>
              <a:ext cx="210665" cy="241571"/>
            </a:xfrm>
            <a:prstGeom prst="roundRect">
              <a:avLst>
                <a:gd name="adj" fmla="val 50000"/>
              </a:avLst>
            </a:prstGeom>
            <a:solidFill>
              <a:srgbClr val="C5BF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E893C76E-F760-C822-9574-0A7CA7C50B45}"/>
                </a:ext>
              </a:extLst>
            </p:cNvPr>
            <p:cNvGrpSpPr/>
            <p:nvPr/>
          </p:nvGrpSpPr>
          <p:grpSpPr>
            <a:xfrm>
              <a:off x="6726886" y="2218607"/>
              <a:ext cx="259129" cy="2865668"/>
              <a:chOff x="9155064" y="2694288"/>
              <a:chExt cx="234325" cy="2259827"/>
            </a:xfrm>
          </p:grpSpPr>
          <p:sp>
            <p:nvSpPr>
              <p:cNvPr id="75" name="Google Shape;127;p16">
                <a:extLst>
                  <a:ext uri="{FF2B5EF4-FFF2-40B4-BE49-F238E27FC236}">
                    <a16:creationId xmlns:a16="http://schemas.microsoft.com/office/drawing/2014/main" id="{99152447-D02E-D792-7F73-3FA1F163FE02}"/>
                  </a:ext>
                </a:extLst>
              </p:cNvPr>
              <p:cNvSpPr/>
              <p:nvPr/>
            </p:nvSpPr>
            <p:spPr>
              <a:xfrm>
                <a:off x="9155064" y="2694288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9C929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9C929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128;p16">
                <a:extLst>
                  <a:ext uri="{FF2B5EF4-FFF2-40B4-BE49-F238E27FC236}">
                    <a16:creationId xmlns:a16="http://schemas.microsoft.com/office/drawing/2014/main" id="{A9D7608A-411D-50AE-F192-489D24984185}"/>
                  </a:ext>
                </a:extLst>
              </p:cNvPr>
              <p:cNvSpPr/>
              <p:nvPr/>
            </p:nvSpPr>
            <p:spPr>
              <a:xfrm>
                <a:off x="9155064" y="3113388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C6C1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29;p16">
                <a:extLst>
                  <a:ext uri="{FF2B5EF4-FFF2-40B4-BE49-F238E27FC236}">
                    <a16:creationId xmlns:a16="http://schemas.microsoft.com/office/drawing/2014/main" id="{48390882-2F5B-6764-318C-4CE38D55A64B}"/>
                  </a:ext>
                </a:extLst>
              </p:cNvPr>
              <p:cNvSpPr/>
              <p:nvPr/>
            </p:nvSpPr>
            <p:spPr>
              <a:xfrm>
                <a:off x="9171601" y="3958880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8074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29;p16">
                <a:extLst>
                  <a:ext uri="{FF2B5EF4-FFF2-40B4-BE49-F238E27FC236}">
                    <a16:creationId xmlns:a16="http://schemas.microsoft.com/office/drawing/2014/main" id="{133C16B9-7240-643E-7A23-F42D5A802AEA}"/>
                  </a:ext>
                </a:extLst>
              </p:cNvPr>
              <p:cNvSpPr/>
              <p:nvPr/>
            </p:nvSpPr>
            <p:spPr>
              <a:xfrm>
                <a:off x="9215747" y="4746008"/>
                <a:ext cx="173642" cy="208107"/>
              </a:xfrm>
              <a:prstGeom prst="roundRect">
                <a:avLst>
                  <a:gd name="adj" fmla="val 50000"/>
                </a:avLst>
              </a:prstGeom>
              <a:solidFill>
                <a:srgbClr val="FFBE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99917F2-ED4B-532C-3D5D-D14944B7B25C}"/>
                </a:ext>
              </a:extLst>
            </p:cNvPr>
            <p:cNvGrpSpPr/>
            <p:nvPr/>
          </p:nvGrpSpPr>
          <p:grpSpPr>
            <a:xfrm>
              <a:off x="7288606" y="2213466"/>
              <a:ext cx="3080690" cy="2855831"/>
              <a:chOff x="9406200" y="2696498"/>
              <a:chExt cx="2785800" cy="2239369"/>
            </a:xfrm>
          </p:grpSpPr>
          <p:sp>
            <p:nvSpPr>
              <p:cNvPr id="72" name="Google Shape;124;p16">
                <a:extLst>
                  <a:ext uri="{FF2B5EF4-FFF2-40B4-BE49-F238E27FC236}">
                    <a16:creationId xmlns:a16="http://schemas.microsoft.com/office/drawing/2014/main" id="{74F417B5-A2D5-01C6-B017-5670F87C0B32}"/>
                  </a:ext>
                </a:extLst>
              </p:cNvPr>
              <p:cNvSpPr txBox="1"/>
              <p:nvPr/>
            </p:nvSpPr>
            <p:spPr>
              <a:xfrm>
                <a:off x="9406200" y="2696498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Successful</a:t>
                </a:r>
                <a:endParaRPr sz="800" dirty="0"/>
              </a:p>
            </p:txBody>
          </p:sp>
          <p:sp>
            <p:nvSpPr>
              <p:cNvPr id="73" name="Google Shape;125;p16">
                <a:extLst>
                  <a:ext uri="{FF2B5EF4-FFF2-40B4-BE49-F238E27FC236}">
                    <a16:creationId xmlns:a16="http://schemas.microsoft.com/office/drawing/2014/main" id="{91F69D7C-C23D-77CF-E12B-97E4C16923AA}"/>
                  </a:ext>
                </a:extLst>
              </p:cNvPr>
              <p:cNvSpPr txBox="1"/>
              <p:nvPr/>
            </p:nvSpPr>
            <p:spPr>
              <a:xfrm>
                <a:off x="9439276" y="3124742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Failed</a:t>
                </a:r>
                <a:endParaRPr sz="800" dirty="0"/>
              </a:p>
            </p:txBody>
          </p:sp>
          <p:sp>
            <p:nvSpPr>
              <p:cNvPr id="74" name="Google Shape;126;p16">
                <a:extLst>
                  <a:ext uri="{FF2B5EF4-FFF2-40B4-BE49-F238E27FC236}">
                    <a16:creationId xmlns:a16="http://schemas.microsoft.com/office/drawing/2014/main" id="{3C3ADD66-E3AA-6961-3364-8C7E277A15DC}"/>
                  </a:ext>
                </a:extLst>
              </p:cNvPr>
              <p:cNvSpPr txBox="1"/>
              <p:nvPr/>
            </p:nvSpPr>
            <p:spPr>
              <a:xfrm>
                <a:off x="9439276" y="3543842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Live</a:t>
                </a:r>
                <a:endParaRPr sz="800" dirty="0"/>
              </a:p>
            </p:txBody>
          </p:sp>
          <p:sp>
            <p:nvSpPr>
              <p:cNvPr id="79" name="Google Shape;126;p16">
                <a:extLst>
                  <a:ext uri="{FF2B5EF4-FFF2-40B4-BE49-F238E27FC236}">
                    <a16:creationId xmlns:a16="http://schemas.microsoft.com/office/drawing/2014/main" id="{9196262B-565F-B627-E7DA-A3760C8240A0}"/>
                  </a:ext>
                </a:extLst>
              </p:cNvPr>
              <p:cNvSpPr txBox="1"/>
              <p:nvPr/>
            </p:nvSpPr>
            <p:spPr>
              <a:xfrm>
                <a:off x="9439276" y="3962942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Cancelled</a:t>
                </a:r>
                <a:endParaRPr sz="800" dirty="0"/>
              </a:p>
            </p:txBody>
          </p:sp>
          <p:sp>
            <p:nvSpPr>
              <p:cNvPr id="80" name="Google Shape;126;p16">
                <a:extLst>
                  <a:ext uri="{FF2B5EF4-FFF2-40B4-BE49-F238E27FC236}">
                    <a16:creationId xmlns:a16="http://schemas.microsoft.com/office/drawing/2014/main" id="{C023A74C-DC0B-B1F7-EBCE-6009C5887954}"/>
                  </a:ext>
                </a:extLst>
              </p:cNvPr>
              <p:cNvSpPr txBox="1"/>
              <p:nvPr/>
            </p:nvSpPr>
            <p:spPr>
              <a:xfrm>
                <a:off x="9439273" y="4749027"/>
                <a:ext cx="2350610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Purged</a:t>
                </a:r>
                <a:endParaRPr sz="800" dirty="0"/>
              </a:p>
            </p:txBody>
          </p:sp>
          <p:sp>
            <p:nvSpPr>
              <p:cNvPr id="81" name="Google Shape;126;p16">
                <a:extLst>
                  <a:ext uri="{FF2B5EF4-FFF2-40B4-BE49-F238E27FC236}">
                    <a16:creationId xmlns:a16="http://schemas.microsoft.com/office/drawing/2014/main" id="{BA02E240-8AED-31B9-16AF-031BE7074014}"/>
                  </a:ext>
                </a:extLst>
              </p:cNvPr>
              <p:cNvSpPr txBox="1"/>
              <p:nvPr/>
            </p:nvSpPr>
            <p:spPr>
              <a:xfrm>
                <a:off x="9439273" y="4340595"/>
                <a:ext cx="2752724" cy="18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Suspended</a:t>
                </a:r>
                <a:endParaRPr sz="800" dirty="0"/>
              </a:p>
            </p:txBody>
          </p:sp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3859F2C-54F4-7547-671C-08828EE82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65686" y="2315244"/>
              <a:ext cx="4455244" cy="2612485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192A1BA-1E8A-853D-A429-4728FD1F94CC}"/>
              </a:ext>
            </a:extLst>
          </p:cNvPr>
          <p:cNvSpPr txBox="1"/>
          <p:nvPr/>
        </p:nvSpPr>
        <p:spPr>
          <a:xfrm>
            <a:off x="201168" y="1527048"/>
            <a:ext cx="20299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Distributions of Outcomes</a:t>
            </a:r>
            <a:endParaRPr lang="en-US" sz="1800" dirty="0">
              <a:solidFill>
                <a:srgbClr val="2DD4BF"/>
              </a:solidFill>
            </a:endParaRPr>
          </a:p>
          <a:p>
            <a:endParaRPr lang="en-IN" sz="32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1543168-3A47-14FD-1F94-44250DB3C2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9976" y="1078992"/>
            <a:ext cx="7748016" cy="54864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4" name="Google Shape;117;p15">
            <a:extLst>
              <a:ext uri="{FF2B5EF4-FFF2-40B4-BE49-F238E27FC236}">
                <a16:creationId xmlns:a16="http://schemas.microsoft.com/office/drawing/2014/main" id="{FC60A0FB-AF2A-D303-014F-5FB27242BADC}"/>
              </a:ext>
            </a:extLst>
          </p:cNvPr>
          <p:cNvSpPr/>
          <p:nvPr/>
        </p:nvSpPr>
        <p:spPr>
          <a:xfrm>
            <a:off x="2276856" y="1624703"/>
            <a:ext cx="55307" cy="393873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DD4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FC71137A-3F0C-70FE-98F6-3D4767B660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8840" y="2304288"/>
            <a:ext cx="2057400" cy="395020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469681-04D3-07FE-8BC0-04DF65AA866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9475" t="27017" r="26279" b="11370"/>
          <a:stretch/>
        </p:blipFill>
        <p:spPr>
          <a:xfrm>
            <a:off x="2221854" y="2662587"/>
            <a:ext cx="1838082" cy="1516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926E49-63C5-1CDA-7B27-331D204949BA}"/>
              </a:ext>
            </a:extLst>
          </p:cNvPr>
          <p:cNvSpPr txBox="1"/>
          <p:nvPr/>
        </p:nvSpPr>
        <p:spPr>
          <a:xfrm>
            <a:off x="2144401" y="4385532"/>
            <a:ext cx="2029411" cy="139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900" b="1" i="0" u="none" strike="noStrike" cap="none" dirty="0"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lang="en-US" sz="900" dirty="0">
                <a:latin typeface="Inter"/>
                <a:ea typeface="Inter"/>
                <a:cs typeface="Inter"/>
                <a:sym typeface="Inter"/>
              </a:rPr>
              <a:t> The number of projects grew quickly from 2009 and reached a high of 59,000 in 2014. After that peak, the totals began to drop, showing a very sharp decrease by 2019.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6EB37-C55C-E451-CAAE-FEE8EBD72CF3}"/>
              </a:ext>
            </a:extLst>
          </p:cNvPr>
          <p:cNvSpPr txBox="1"/>
          <p:nvPr/>
        </p:nvSpPr>
        <p:spPr>
          <a:xfrm>
            <a:off x="2359152" y="1527049"/>
            <a:ext cx="2267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Market Growth Over Time</a:t>
            </a:r>
            <a:endParaRPr lang="en-US" sz="1800" dirty="0">
              <a:solidFill>
                <a:srgbClr val="2DD4BF"/>
              </a:solidFill>
            </a:endParaRPr>
          </a:p>
          <a:p>
            <a:endParaRPr lang="en-IN" sz="1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ADB0EB-5B48-E454-F3DC-2A6B905BD95F}"/>
              </a:ext>
            </a:extLst>
          </p:cNvPr>
          <p:cNvGrpSpPr/>
          <p:nvPr/>
        </p:nvGrpSpPr>
        <p:grpSpPr>
          <a:xfrm>
            <a:off x="4818888" y="164592"/>
            <a:ext cx="7373112" cy="6002248"/>
            <a:chOff x="509528" y="571500"/>
            <a:chExt cx="12492449" cy="5978059"/>
          </a:xfrm>
        </p:grpSpPr>
        <p:sp>
          <p:nvSpPr>
            <p:cNvPr id="9" name="Google Shape;145;p18">
              <a:extLst>
                <a:ext uri="{FF2B5EF4-FFF2-40B4-BE49-F238E27FC236}">
                  <a16:creationId xmlns:a16="http://schemas.microsoft.com/office/drawing/2014/main" id="{6EBBED6F-8BE6-B1ED-98B8-BCE2BCC204F5}"/>
                </a:ext>
              </a:extLst>
            </p:cNvPr>
            <p:cNvSpPr txBox="1"/>
            <p:nvPr/>
          </p:nvSpPr>
          <p:spPr>
            <a:xfrm>
              <a:off x="857249" y="5556382"/>
              <a:ext cx="11048999" cy="9931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sz="13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I</a:t>
              </a:r>
              <a:r>
                <a:rPr lang="en-US" sz="1350" b="1" i="0" u="none" strike="noStrike" cap="none" dirty="0">
                  <a:latin typeface="Inter"/>
                  <a:ea typeface="Inter"/>
                  <a:cs typeface="Inter"/>
                  <a:sym typeface="Inter"/>
                </a:rPr>
                <a:t>nsight:</a:t>
              </a:r>
              <a:r>
                <a:rPr lang="en-US" sz="135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50" dirty="0">
                  <a:latin typeface="Inter"/>
                  <a:ea typeface="Inter"/>
                  <a:cs typeface="Inter"/>
                  <a:sym typeface="Inter"/>
                </a:rPr>
                <a:t>Chiptune and Residencies are the most popular niche categories with the highest success rate. Taxidermy has the lowest number of projects in this group, with a total % of 42.</a:t>
              </a:r>
              <a:endParaRPr dirty="0"/>
            </a:p>
          </p:txBody>
        </p:sp>
        <p:sp>
          <p:nvSpPr>
            <p:cNvPr id="10" name="Google Shape;116;p15">
              <a:extLst>
                <a:ext uri="{FF2B5EF4-FFF2-40B4-BE49-F238E27FC236}">
                  <a16:creationId xmlns:a16="http://schemas.microsoft.com/office/drawing/2014/main" id="{426F9735-CC73-D15A-8F94-25E57BDCDAD8}"/>
                </a:ext>
              </a:extLst>
            </p:cNvPr>
            <p:cNvSpPr txBox="1"/>
            <p:nvPr/>
          </p:nvSpPr>
          <p:spPr>
            <a:xfrm>
              <a:off x="974315" y="598821"/>
              <a:ext cx="12027662" cy="613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 dirty="0">
                  <a:solidFill>
                    <a:srgbClr val="2DD4BF"/>
                  </a:solidFill>
                  <a:latin typeface="Poppins"/>
                  <a:ea typeface="Poppins"/>
                  <a:cs typeface="Poppins"/>
                  <a:sym typeface="Poppins"/>
                </a:rPr>
                <a:t>Success Rate By Category</a:t>
              </a:r>
              <a:endParaRPr sz="4000" dirty="0">
                <a:solidFill>
                  <a:srgbClr val="2DD4BF"/>
                </a:solidFill>
              </a:endParaRPr>
            </a:p>
          </p:txBody>
        </p:sp>
        <p:sp>
          <p:nvSpPr>
            <p:cNvPr id="11" name="Google Shape;117;p15">
              <a:extLst>
                <a:ext uri="{FF2B5EF4-FFF2-40B4-BE49-F238E27FC236}">
                  <a16:creationId xmlns:a16="http://schemas.microsoft.com/office/drawing/2014/main" id="{F79988A9-AEE5-87C3-A8FB-F58780A3F16F}"/>
                </a:ext>
              </a:extLst>
            </p:cNvPr>
            <p:cNvSpPr/>
            <p:nvPr/>
          </p:nvSpPr>
          <p:spPr>
            <a:xfrm>
              <a:off x="509528" y="571500"/>
              <a:ext cx="119121" cy="619125"/>
            </a:xfrm>
            <a:prstGeom prst="rect">
              <a:avLst/>
            </a:prstGeom>
            <a:solidFill>
              <a:srgbClr val="2DD4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A50B0D-225C-D372-1F27-0D7FE52145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duotone>
                <a:prstClr val="black"/>
                <a:srgbClr val="2DD4BF">
                  <a:tint val="45000"/>
                  <a:satMod val="400000"/>
                </a:srgbClr>
              </a:duotone>
            </a:blip>
            <a:srcRect l="13105" t="27504" r="38813" b="33896"/>
            <a:stretch/>
          </p:blipFill>
          <p:spPr>
            <a:xfrm>
              <a:off x="602485" y="1667078"/>
              <a:ext cx="11666161" cy="36448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258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FB9917-11F8-8C0C-9FBA-8D51FB16D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" y="0"/>
            <a:ext cx="12167026" cy="6858000"/>
          </a:xfrm>
          <a:prstGeom prst="rect">
            <a:avLst/>
          </a:prstGeom>
        </p:spPr>
      </p:pic>
      <p:graphicFrame>
        <p:nvGraphicFramePr>
          <p:cNvPr id="152" name="Google Shape;152;p19"/>
          <p:cNvGraphicFramePr/>
          <p:nvPr>
            <p:extLst>
              <p:ext uri="{D42A27DB-BD31-4B8C-83A1-F6EECF244321}">
                <p14:modId xmlns:p14="http://schemas.microsoft.com/office/powerpoint/2010/main" val="3510327716"/>
              </p:ext>
            </p:extLst>
          </p:nvPr>
        </p:nvGraphicFramePr>
        <p:xfrm>
          <a:off x="754603" y="1837678"/>
          <a:ext cx="10292089" cy="43411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72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5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Location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Projects Launched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Successful</a:t>
                      </a:r>
                      <a:r>
                        <a:rPr lang="en-US" sz="18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Project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5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Los Angeles,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18,596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8,237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5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New York,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14,150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7,155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5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London,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UK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11,468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4,848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5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San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Francisco,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6,236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3,394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5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Brooklyn,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5,624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3,548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Google Shape;116;p15"/>
          <p:cNvSpPr txBox="1"/>
          <p:nvPr/>
        </p:nvSpPr>
        <p:spPr>
          <a:xfrm>
            <a:off x="833021" y="615889"/>
            <a:ext cx="723678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Geographic Distribution ( Top 5 )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30" name="Google Shape;117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D8F1583B-E80D-BB8B-712C-EFB356F1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19">
            <a:extLst>
              <a:ext uri="{FF2B5EF4-FFF2-40B4-BE49-F238E27FC236}">
                <a16:creationId xmlns:a16="http://schemas.microsoft.com/office/drawing/2014/main" id="{BAFF3BE3-FE26-2CCD-43E0-BEFCAD0F70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7671985"/>
              </p:ext>
            </p:extLst>
          </p:nvPr>
        </p:nvGraphicFramePr>
        <p:xfrm>
          <a:off x="12509416" y="2459114"/>
          <a:ext cx="1801385" cy="166420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Location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Projects Launched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Successful</a:t>
                      </a:r>
                      <a:r>
                        <a:rPr lang="en-US" sz="18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Project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0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Los Angeles,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18,596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8,237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0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New York,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14,150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7,155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London,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UK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11,468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4,848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0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San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Francisco,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6,236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3,394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05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Brooklyn,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5,624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3,548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Google Shape;117;p15">
            <a:extLst>
              <a:ext uri="{FF2B5EF4-FFF2-40B4-BE49-F238E27FC236}">
                <a16:creationId xmlns:a16="http://schemas.microsoft.com/office/drawing/2014/main" id="{3B253865-22CF-CC7B-B0D1-FFBEE2C6E611}"/>
              </a:ext>
            </a:extLst>
          </p:cNvPr>
          <p:cNvSpPr/>
          <p:nvPr/>
        </p:nvSpPr>
        <p:spPr>
          <a:xfrm>
            <a:off x="82481" y="5686921"/>
            <a:ext cx="155448" cy="11064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20C969-5A75-0A07-25C4-D010AE18F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472"/>
            <a:ext cx="12160504" cy="56988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90;p21">
            <a:extLst>
              <a:ext uri="{FF2B5EF4-FFF2-40B4-BE49-F238E27FC236}">
                <a16:creationId xmlns:a16="http://schemas.microsoft.com/office/drawing/2014/main" id="{1D605FCC-987E-AA99-63CF-50291CF7AE9F}"/>
              </a:ext>
            </a:extLst>
          </p:cNvPr>
          <p:cNvSpPr txBox="1"/>
          <p:nvPr/>
        </p:nvSpPr>
        <p:spPr>
          <a:xfrm>
            <a:off x="312278" y="6229435"/>
            <a:ext cx="1167652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dirty="0"/>
              <a:t>A simple way to track daily project updates and funding goals using Excel’s easy pivot tables and automated reports.</a:t>
            </a:r>
            <a:endParaRPr dirty="0"/>
          </a:p>
        </p:txBody>
      </p:sp>
      <p:sp>
        <p:nvSpPr>
          <p:cNvPr id="4" name="Google Shape;189;p21">
            <a:extLst>
              <a:ext uri="{FF2B5EF4-FFF2-40B4-BE49-F238E27FC236}">
                <a16:creationId xmlns:a16="http://schemas.microsoft.com/office/drawing/2014/main" id="{E48BE017-4124-C37A-3BC3-933E11A37078}"/>
              </a:ext>
            </a:extLst>
          </p:cNvPr>
          <p:cNvSpPr txBox="1"/>
          <p:nvPr/>
        </p:nvSpPr>
        <p:spPr>
          <a:xfrm>
            <a:off x="391832" y="5867399"/>
            <a:ext cx="69208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Excel: Core Analytics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096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03300336-BB2A-9A72-4557-652A78646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19">
            <a:extLst>
              <a:ext uri="{FF2B5EF4-FFF2-40B4-BE49-F238E27FC236}">
                <a16:creationId xmlns:a16="http://schemas.microsoft.com/office/drawing/2014/main" id="{C4809B13-3E1F-4479-E4DA-8B24C730BE03}"/>
              </a:ext>
            </a:extLst>
          </p:cNvPr>
          <p:cNvGraphicFramePr/>
          <p:nvPr/>
        </p:nvGraphicFramePr>
        <p:xfrm>
          <a:off x="12509416" y="2459114"/>
          <a:ext cx="1801385" cy="166420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Location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Projects Launched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Successful</a:t>
                      </a:r>
                      <a:r>
                        <a:rPr lang="en-US" sz="18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Project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0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Los Angeles,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18,596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8,237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0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New York,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14,150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7,155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London,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UK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11,468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4,848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0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San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Francisco,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6,236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3,394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05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Brooklyn,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5,624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3,548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Google Shape;117;p15">
            <a:extLst>
              <a:ext uri="{FF2B5EF4-FFF2-40B4-BE49-F238E27FC236}">
                <a16:creationId xmlns:a16="http://schemas.microsoft.com/office/drawing/2014/main" id="{4615EF31-28B6-D9A5-008D-1A4B6593FA37}"/>
              </a:ext>
            </a:extLst>
          </p:cNvPr>
          <p:cNvSpPr/>
          <p:nvPr/>
        </p:nvSpPr>
        <p:spPr>
          <a:xfrm>
            <a:off x="101599" y="5704840"/>
            <a:ext cx="83128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7562C5-E036-DA71-6AB5-BA801EE45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915" y="438913"/>
            <a:ext cx="549141" cy="914400"/>
          </a:xfrm>
          <a:prstGeom prst="rect">
            <a:avLst/>
          </a:prstGeom>
        </p:spPr>
      </p:pic>
      <p:sp>
        <p:nvSpPr>
          <p:cNvPr id="3" name="Google Shape;190;p21">
            <a:extLst>
              <a:ext uri="{FF2B5EF4-FFF2-40B4-BE49-F238E27FC236}">
                <a16:creationId xmlns:a16="http://schemas.microsoft.com/office/drawing/2014/main" id="{42C70C29-9BC3-F7BE-FCE7-AF735A9AE841}"/>
              </a:ext>
            </a:extLst>
          </p:cNvPr>
          <p:cNvSpPr txBox="1"/>
          <p:nvPr/>
        </p:nvSpPr>
        <p:spPr>
          <a:xfrm>
            <a:off x="284845" y="6070092"/>
            <a:ext cx="1198104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dirty="0"/>
              <a:t>A clear look at global crowdfunding totals and project funding goals using Power BI's simple layouts and interactive data charts.</a:t>
            </a:r>
          </a:p>
        </p:txBody>
      </p:sp>
      <p:sp>
        <p:nvSpPr>
          <p:cNvPr id="4" name="Google Shape;189;p21">
            <a:extLst>
              <a:ext uri="{FF2B5EF4-FFF2-40B4-BE49-F238E27FC236}">
                <a16:creationId xmlns:a16="http://schemas.microsoft.com/office/drawing/2014/main" id="{BF0ED8AB-7CA0-28E9-0D58-B311135B2AA2}"/>
              </a:ext>
            </a:extLst>
          </p:cNvPr>
          <p:cNvSpPr txBox="1"/>
          <p:nvPr/>
        </p:nvSpPr>
        <p:spPr>
          <a:xfrm>
            <a:off x="373452" y="5848096"/>
            <a:ext cx="69208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Power BI: Interactive Insights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443E5-8214-1F03-E408-24203110C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650585"/>
          </a:xfrm>
          <a:prstGeom prst="rect">
            <a:avLst/>
          </a:prstGeom>
          <a:effectLst>
            <a:outerShdw blurRad="50800" dist="50800" dir="5400000" algn="ctr" rotWithShape="0">
              <a:schemeClr val="bg2"/>
            </a:outerShdw>
          </a:effectLst>
        </p:spPr>
      </p:pic>
    </p:spTree>
    <p:extLst>
      <p:ext uri="{BB962C8B-B14F-4D97-AF65-F5344CB8AC3E}">
        <p14:creationId xmlns:p14="http://schemas.microsoft.com/office/powerpoint/2010/main" val="891729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E1DEE71D-8EA5-5C96-5458-47D59D5E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19">
            <a:extLst>
              <a:ext uri="{FF2B5EF4-FFF2-40B4-BE49-F238E27FC236}">
                <a16:creationId xmlns:a16="http://schemas.microsoft.com/office/drawing/2014/main" id="{47011185-C5BC-1A1C-650B-B85917041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1708696"/>
              </p:ext>
            </p:extLst>
          </p:nvPr>
        </p:nvGraphicFramePr>
        <p:xfrm>
          <a:off x="12509416" y="2459114"/>
          <a:ext cx="1801385" cy="166420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54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Location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Projects Launched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Successful</a:t>
                      </a:r>
                      <a:r>
                        <a:rPr lang="en-US" sz="18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Project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Los Angeles,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18,596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8,237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629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New York,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14,150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7,155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54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London,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UK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11,468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4,848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05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San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Francisco, CA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6,236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3,394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715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Brooklyn,</a:t>
                      </a:r>
                      <a:r>
                        <a:rPr lang="en-US" sz="1600" u="none" strike="noStrike" cap="none" baseline="0" dirty="0">
                          <a:solidFill>
                            <a:srgbClr val="2DD4BF"/>
                          </a:solidFill>
                          <a:sym typeface="Inter"/>
                        </a:rPr>
                        <a:t> NY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5,624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2DD4BF"/>
                          </a:solidFill>
                          <a:sym typeface="Inter"/>
                        </a:rPr>
                        <a:t>3,548</a:t>
                      </a:r>
                      <a:endParaRPr sz="1800" dirty="0">
                        <a:solidFill>
                          <a:srgbClr val="2DD4BF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Google Shape;117;p15">
            <a:extLst>
              <a:ext uri="{FF2B5EF4-FFF2-40B4-BE49-F238E27FC236}">
                <a16:creationId xmlns:a16="http://schemas.microsoft.com/office/drawing/2014/main" id="{161D20C2-7E4C-2FB5-1A1E-126302D56C34}"/>
              </a:ext>
            </a:extLst>
          </p:cNvPr>
          <p:cNvSpPr/>
          <p:nvPr/>
        </p:nvSpPr>
        <p:spPr>
          <a:xfrm>
            <a:off x="120073" y="5806440"/>
            <a:ext cx="110836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73427B-4C91-FED8-0C06-26C695253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915" y="438913"/>
            <a:ext cx="549141" cy="914400"/>
          </a:xfrm>
          <a:prstGeom prst="rect">
            <a:avLst/>
          </a:prstGeom>
        </p:spPr>
      </p:pic>
      <p:sp>
        <p:nvSpPr>
          <p:cNvPr id="3" name="Google Shape;190;p21">
            <a:extLst>
              <a:ext uri="{FF2B5EF4-FFF2-40B4-BE49-F238E27FC236}">
                <a16:creationId xmlns:a16="http://schemas.microsoft.com/office/drawing/2014/main" id="{4A93910E-74EA-EA3C-8BEE-8B7688EAA6FF}"/>
              </a:ext>
            </a:extLst>
          </p:cNvPr>
          <p:cNvSpPr txBox="1"/>
          <p:nvPr/>
        </p:nvSpPr>
        <p:spPr>
          <a:xfrm>
            <a:off x="284845" y="6275154"/>
            <a:ext cx="1178708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dirty="0"/>
              <a:t>A clear look at crowdfunding trends and project success using Tableau's simple and interactive data charts.</a:t>
            </a:r>
          </a:p>
        </p:txBody>
      </p:sp>
      <p:sp>
        <p:nvSpPr>
          <p:cNvPr id="4" name="Google Shape;189;p21">
            <a:extLst>
              <a:ext uri="{FF2B5EF4-FFF2-40B4-BE49-F238E27FC236}">
                <a16:creationId xmlns:a16="http://schemas.microsoft.com/office/drawing/2014/main" id="{6281BFD7-3822-1BBE-C9D3-F27EA0E70FA0}"/>
              </a:ext>
            </a:extLst>
          </p:cNvPr>
          <p:cNvSpPr txBox="1"/>
          <p:nvPr/>
        </p:nvSpPr>
        <p:spPr>
          <a:xfrm>
            <a:off x="364215" y="5986641"/>
            <a:ext cx="69208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Tableau: Visual Exploration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A10E4-6AA2-9B88-975F-1104CC431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508991" y="155448"/>
            <a:ext cx="1696453" cy="812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B10697-D864-578F-1134-E144C51A3C9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952" r="1689" b="4064"/>
          <a:stretch/>
        </p:blipFill>
        <p:spPr>
          <a:xfrm>
            <a:off x="0" y="0"/>
            <a:ext cx="12192000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71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8;p26"/>
          <p:cNvSpPr txBox="1"/>
          <p:nvPr/>
        </p:nvSpPr>
        <p:spPr>
          <a:xfrm>
            <a:off x="295275" y="571500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Conclusions &amp; Outlook</a:t>
            </a:r>
            <a:endParaRPr/>
          </a:p>
        </p:txBody>
      </p:sp>
      <p:sp>
        <p:nvSpPr>
          <p:cNvPr id="8" name="Google Shape;229;p26"/>
          <p:cNvSpPr/>
          <p:nvPr/>
        </p:nvSpPr>
        <p:spPr>
          <a:xfrm>
            <a:off x="571500" y="1666875"/>
            <a:ext cx="1104900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30;p26"/>
          <p:cNvSpPr txBox="1"/>
          <p:nvPr/>
        </p:nvSpPr>
        <p:spPr>
          <a:xfrm>
            <a:off x="1809750" y="1762125"/>
            <a:ext cx="857250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Multi-platform analysis reveals that Games and Tech remain dominant, but funding velocity is highly dependent on community engagement. Integrated dashboards allow for predictive success modeling across all funding platforms.</a:t>
            </a:r>
            <a:endParaRPr dirty="0"/>
          </a:p>
        </p:txBody>
      </p:sp>
      <p:pic>
        <p:nvPicPr>
          <p:cNvPr id="10" name="Google Shape;227;p26" descr="image.png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28;p26"/>
          <p:cNvSpPr txBox="1"/>
          <p:nvPr/>
        </p:nvSpPr>
        <p:spPr>
          <a:xfrm>
            <a:off x="447675" y="723900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Conclusions &amp; Outlook</a:t>
            </a:r>
            <a:endParaRPr dirty="0">
              <a:solidFill>
                <a:srgbClr val="2DD4BF"/>
              </a:solidFill>
            </a:endParaRPr>
          </a:p>
        </p:txBody>
      </p:sp>
      <p:sp>
        <p:nvSpPr>
          <p:cNvPr id="15" name="Google Shape;229;p26"/>
          <p:cNvSpPr/>
          <p:nvPr/>
        </p:nvSpPr>
        <p:spPr>
          <a:xfrm>
            <a:off x="723900" y="1819275"/>
            <a:ext cx="1104900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30;p26"/>
          <p:cNvSpPr txBox="1"/>
          <p:nvPr/>
        </p:nvSpPr>
        <p:spPr>
          <a:xfrm>
            <a:off x="1227551" y="2352675"/>
            <a:ext cx="962025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Crowdfunding is a global success, raising billions of dollars from millions of backers for hundreds of thousands of projects. </a:t>
            </a:r>
          </a:p>
          <a:p>
            <a:pPr marL="285750" lvl="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 Design and Tabletop Games are consistently the top-performing categories, attracting the most interest and funding overall.</a:t>
            </a:r>
          </a:p>
          <a:p>
            <a:pPr marL="285750" lvl="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Integrated Dashboard allows us to see project trends change over time, the community's support for new ideas remains very strong across many countries.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7596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9BCB72FB-674D-CB80-3581-F69F752B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8;p26">
            <a:extLst>
              <a:ext uri="{FF2B5EF4-FFF2-40B4-BE49-F238E27FC236}">
                <a16:creationId xmlns:a16="http://schemas.microsoft.com/office/drawing/2014/main" id="{46AF8330-77E9-2FAA-7D7B-DC6F96D05076}"/>
              </a:ext>
            </a:extLst>
          </p:cNvPr>
          <p:cNvSpPr txBox="1"/>
          <p:nvPr/>
        </p:nvSpPr>
        <p:spPr>
          <a:xfrm>
            <a:off x="295275" y="571500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Conclusions &amp; Outlook</a:t>
            </a:r>
            <a:endParaRPr/>
          </a:p>
        </p:txBody>
      </p:sp>
      <p:sp>
        <p:nvSpPr>
          <p:cNvPr id="8" name="Google Shape;229;p26">
            <a:extLst>
              <a:ext uri="{FF2B5EF4-FFF2-40B4-BE49-F238E27FC236}">
                <a16:creationId xmlns:a16="http://schemas.microsoft.com/office/drawing/2014/main" id="{7F1FC864-C49B-19CD-B391-DE9F3E614563}"/>
              </a:ext>
            </a:extLst>
          </p:cNvPr>
          <p:cNvSpPr/>
          <p:nvPr/>
        </p:nvSpPr>
        <p:spPr>
          <a:xfrm>
            <a:off x="571500" y="1666875"/>
            <a:ext cx="1104900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30;p26">
            <a:extLst>
              <a:ext uri="{FF2B5EF4-FFF2-40B4-BE49-F238E27FC236}">
                <a16:creationId xmlns:a16="http://schemas.microsoft.com/office/drawing/2014/main" id="{0196B320-C2D3-62B3-8E6B-90DC17BB6FCB}"/>
              </a:ext>
            </a:extLst>
          </p:cNvPr>
          <p:cNvSpPr txBox="1"/>
          <p:nvPr/>
        </p:nvSpPr>
        <p:spPr>
          <a:xfrm>
            <a:off x="1809750" y="1762125"/>
            <a:ext cx="857250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Multi-platform analysis reveals that Games and Tech remain dominant, but funding velocity is highly dependent on community engagement. Integrated dashboards allow for predictive success modeling across all funding platforms.</a:t>
            </a:r>
            <a:endParaRPr dirty="0"/>
          </a:p>
        </p:txBody>
      </p:sp>
      <p:pic>
        <p:nvPicPr>
          <p:cNvPr id="10" name="Google Shape;227;p26" descr="image.png">
            <a:extLst>
              <a:ext uri="{FF2B5EF4-FFF2-40B4-BE49-F238E27FC236}">
                <a16:creationId xmlns:a16="http://schemas.microsoft.com/office/drawing/2014/main" id="{8741331E-C1B6-5BE5-579B-E0463365FD6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28;p26">
            <a:extLst>
              <a:ext uri="{FF2B5EF4-FFF2-40B4-BE49-F238E27FC236}">
                <a16:creationId xmlns:a16="http://schemas.microsoft.com/office/drawing/2014/main" id="{9B1E54DB-BB5B-C0B0-7F84-8929D0327440}"/>
              </a:ext>
            </a:extLst>
          </p:cNvPr>
          <p:cNvSpPr txBox="1"/>
          <p:nvPr/>
        </p:nvSpPr>
        <p:spPr>
          <a:xfrm>
            <a:off x="500940" y="2357391"/>
            <a:ext cx="1151054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9600" dirty="0">
              <a:solidFill>
                <a:srgbClr val="2DD4BF"/>
              </a:solidFill>
            </a:endParaRPr>
          </a:p>
        </p:txBody>
      </p:sp>
      <p:sp>
        <p:nvSpPr>
          <p:cNvPr id="15" name="Google Shape;229;p26">
            <a:extLst>
              <a:ext uri="{FF2B5EF4-FFF2-40B4-BE49-F238E27FC236}">
                <a16:creationId xmlns:a16="http://schemas.microsoft.com/office/drawing/2014/main" id="{5F187949-3E73-FAEB-C4ED-8F613F64228E}"/>
              </a:ext>
            </a:extLst>
          </p:cNvPr>
          <p:cNvSpPr/>
          <p:nvPr/>
        </p:nvSpPr>
        <p:spPr>
          <a:xfrm>
            <a:off x="652879" y="3949916"/>
            <a:ext cx="1104900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0936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3228</TotalTime>
  <Words>707</Words>
  <Application>Microsoft Office PowerPoint</Application>
  <PresentationFormat>Widescreen</PresentationFormat>
  <Paragraphs>189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Wingdings 3</vt:lpstr>
      <vt:lpstr>Inter</vt:lpstr>
      <vt:lpstr>Calibri</vt:lpstr>
      <vt:lpstr>Poppins</vt:lpstr>
      <vt:lpstr>Arial</vt:lpstr>
      <vt:lpstr>Century Gothic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karan Sengunthar</dc:creator>
  <cp:lastModifiedBy>karan Sengunthar</cp:lastModifiedBy>
  <cp:revision>24</cp:revision>
  <dcterms:modified xsi:type="dcterms:W3CDTF">2026-01-07T08:48:51Z</dcterms:modified>
</cp:coreProperties>
</file>